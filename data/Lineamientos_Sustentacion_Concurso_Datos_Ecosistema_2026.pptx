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BDB77E-A078-62D6-1CDE-7E94DFFEF6CC}" v="1" dt="2026-07-13T06:53:23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21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Abrir la reunión señalando que la sustentación valida el proyecto: datos, código, resultados e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Insistir en que los equipos deben priorizar lo evaluable: problema, datos, IA, resultados e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Recalcar que el equipo completo evita respuestas incompletas y pérdida de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Ser claros: si se envía listado de cupos por nivel, cada equipo debe diligenciar únicamente el que le corresponde.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Este es el punto que debe quedar más claro para evitar reclamos: el tiempo efectivo del pitch depende del esquema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Recomendar ensayar con cronómetro y reducir contenido antes de bajar tamaño de letra.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Pedir que preparen una frase de impacto: quién gana, qué mejora y con qué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formulario debe permitir validar antes de la sesión. No basta con presentar pantalla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Recomendar que el líder revise que la presentación no esté saturada.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Cerrar recordando que el objetivo no es llenar tiempo, sino demostrar con claridad la solución y dejar evidencia verificable.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44168"/>
            <a:ext cx="5669280" cy="122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Lineamientos para la sustentación</a:t>
            </a:r>
            <a:endParaRPr lang="en-US" sz="3600"/>
          </a:p>
        </p:txBody>
      </p:sp>
      <p:sp>
        <p:nvSpPr>
          <p:cNvPr id="3" name="Text 1"/>
          <p:cNvSpPr/>
          <p:nvPr/>
        </p:nvSpPr>
        <p:spPr>
          <a:xfrm>
            <a:off x="685800" y="2942503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>
                <a:solidFill>
                  <a:srgbClr val="0065B3"/>
                </a:solidFill>
              </a:rPr>
              <a:t>Concurso Datos al Ecosistema 2026 · IA para Colombia</a:t>
            </a:r>
            <a:endParaRPr lang="en-US" sz="1550"/>
          </a:p>
        </p:txBody>
      </p:sp>
      <p:sp>
        <p:nvSpPr>
          <p:cNvPr id="4" name="Text 2"/>
          <p:cNvSpPr/>
          <p:nvPr/>
        </p:nvSpPr>
        <p:spPr>
          <a:xfrm>
            <a:off x="685800" y="4983480"/>
            <a:ext cx="5166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1E2430"/>
                </a:solidFill>
              </a:rPr>
              <a:t>Guía para que los equipos presenten proyectos claros, verificables y orientados al valor público.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685800" y="4553712"/>
            <a:ext cx="5074920" cy="0"/>
          </a:xfrm>
          <a:prstGeom prst="line">
            <a:avLst/>
          </a:prstGeom>
          <a:noFill/>
          <a:ln w="50800">
            <a:solidFill>
              <a:srgbClr val="FCD116"/>
            </a:solidFill>
            <a:prstDash val="solid"/>
          </a:ln>
        </p:spPr>
      </p:sp>
      <p:pic>
        <p:nvPicPr>
          <p:cNvPr id="6" name="Image 0" descr="/mnt/data/a_wide_clean_high_tech_abstract_illustration_gra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871" y="-2331575"/>
            <a:ext cx="516636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42519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82B5B"/>
                </a:solidFill>
              </a:rPr>
              <a:t>Datos abiertos + IA + impacto</a:t>
            </a:r>
            <a:endParaRPr lang="en-US" sz="2000"/>
          </a:p>
        </p:txBody>
      </p:sp>
      <p:sp>
        <p:nvSpPr>
          <p:cNvPr id="8" name="Text 5"/>
          <p:cNvSpPr/>
          <p:nvPr/>
        </p:nvSpPr>
        <p:spPr>
          <a:xfrm>
            <a:off x="6720840" y="4709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>
                <a:solidFill>
                  <a:srgbClr val="5E6A78"/>
                </a:solidFill>
              </a:rPr>
              <a:t>La sustentación debe demostrar avance, coherencia técnica y utilidad pública.</a:t>
            </a:r>
            <a:endParaRPr lang="en-US" sz="1500"/>
          </a:p>
        </p:txBody>
      </p:sp>
      <p:sp>
        <p:nvSpPr>
          <p:cNvPr id="9" name="Shape 6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11" name="Text 8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01</a:t>
            </a:r>
            <a:endParaRPr lang="en-US"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 demostrar la sustentación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El evaluador debe entender el proyecto sin depender de explicaciones extensas.</a:t>
            </a:r>
            <a:endParaRPr lang="en-US" sz="1220"/>
          </a:p>
        </p:txBody>
      </p:sp>
      <p:sp>
        <p:nvSpPr>
          <p:cNvPr id="4" name="Shape 2"/>
          <p:cNvSpPr/>
          <p:nvPr/>
        </p:nvSpPr>
        <p:spPr>
          <a:xfrm>
            <a:off x="777240" y="1618488"/>
            <a:ext cx="384048" cy="384048"/>
          </a:xfrm>
          <a:prstGeom prst="ellipse">
            <a:avLst/>
          </a:prstGeom>
          <a:solidFill>
            <a:srgbClr val="0065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19072"/>
            <a:ext cx="365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1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307592" y="1600200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Problema real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1307592" y="191109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Necesidad pública, territorial o institucional que se busca atender.</a:t>
            </a:r>
            <a:endParaRPr lang="en-US" sz="1180"/>
          </a:p>
        </p:txBody>
      </p:sp>
      <p:sp>
        <p:nvSpPr>
          <p:cNvPr id="8" name="Shape 6"/>
          <p:cNvSpPr/>
          <p:nvPr/>
        </p:nvSpPr>
        <p:spPr>
          <a:xfrm>
            <a:off x="777240" y="259689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9748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2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1307592" y="2578608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Solución con datos + IA</a:t>
            </a:r>
            <a:endParaRPr lang="en-US" sz="1450"/>
          </a:p>
        </p:txBody>
      </p:sp>
      <p:sp>
        <p:nvSpPr>
          <p:cNvPr id="11" name="Text 9"/>
          <p:cNvSpPr/>
          <p:nvPr/>
        </p:nvSpPr>
        <p:spPr>
          <a:xfrm>
            <a:off x="1307592" y="288950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Uso de datos abiertos y componente inteligente aplicado al reto.</a:t>
            </a:r>
            <a:endParaRPr lang="en-US" sz="1180"/>
          </a:p>
        </p:txBody>
      </p:sp>
      <p:sp>
        <p:nvSpPr>
          <p:cNvPr id="12" name="Shape 10"/>
          <p:cNvSpPr/>
          <p:nvPr/>
        </p:nvSpPr>
        <p:spPr>
          <a:xfrm>
            <a:off x="777240" y="3575304"/>
            <a:ext cx="384048" cy="38404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6758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3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1307592" y="3557016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Resultados verificables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>
          <a:xfrm>
            <a:off x="1307592" y="386791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Evidencias, prototipo, métricas, repositorio y documentación.</a:t>
            </a:r>
            <a:endParaRPr lang="en-US" sz="1180"/>
          </a:p>
        </p:txBody>
      </p:sp>
      <p:sp>
        <p:nvSpPr>
          <p:cNvPr id="16" name="Shape 14"/>
          <p:cNvSpPr/>
          <p:nvPr/>
        </p:nvSpPr>
        <p:spPr>
          <a:xfrm>
            <a:off x="777240" y="4553712"/>
            <a:ext cx="384048" cy="384048"/>
          </a:xfrm>
          <a:prstGeom prst="ellipse">
            <a:avLst/>
          </a:prstGeom>
          <a:solidFill>
            <a:srgbClr val="CE11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465429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4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1307592" y="4535424"/>
            <a:ext cx="4297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Impacto esperado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1307592" y="48463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Beneficiarios, utilidad pública, posible uso y sostenibilidad.</a:t>
            </a:r>
            <a:endParaRPr lang="en-US" sz="1180"/>
          </a:p>
        </p:txBody>
      </p:sp>
      <p:pic>
        <p:nvPicPr>
          <p:cNvPr id="20" name="Image 0" descr="/mnt/data/a_wide_clean_high_tech_abstract_illustration_gra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00200"/>
            <a:ext cx="4663440" cy="26243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355080" y="4800600"/>
            <a:ext cx="49834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082B5B"/>
                </a:solidFill>
              </a:rPr>
              <a:t>No es una exposición académica larga. Es una demostración ejecutiva del valor del proyecto.</a:t>
            </a:r>
            <a:endParaRPr lang="en-US" sz="2000"/>
          </a:p>
        </p:txBody>
      </p:sp>
      <p:sp>
        <p:nvSpPr>
          <p:cNvPr id="22" name="Shape 19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24" name="Text 21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02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Asistencia del equipo completo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Cada integrante debe estar presente durante el bloque asignado.</a:t>
            </a:r>
            <a:endParaRPr lang="en-US" sz="1220"/>
          </a:p>
        </p:txBody>
      </p:sp>
      <p:pic>
        <p:nvPicPr>
          <p:cNvPr id="4" name="Image 0" descr="/mnt/data/a_clean_modern_vector_illustration_scene_of_a_rem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4754880" cy="2679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591056"/>
            <a:ext cx="384048" cy="384048"/>
          </a:xfrm>
          <a:prstGeom prst="ellipse">
            <a:avLst/>
          </a:prstGeom>
          <a:solidFill>
            <a:srgbClr val="0065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169164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1</a:t>
            </a:r>
            <a:endParaRPr lang="en-US" sz="950"/>
          </a:p>
        </p:txBody>
      </p:sp>
      <p:sp>
        <p:nvSpPr>
          <p:cNvPr id="7" name="Text 4"/>
          <p:cNvSpPr/>
          <p:nvPr/>
        </p:nvSpPr>
        <p:spPr>
          <a:xfrm>
            <a:off x="1307592" y="1572768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Responsabilidad compartida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1307592" y="188366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El proyecto fue construido por el equipo; la sustentación también debe reflejarlo.</a:t>
            </a:r>
            <a:endParaRPr lang="en-US" sz="1180"/>
          </a:p>
        </p:txBody>
      </p:sp>
      <p:sp>
        <p:nvSpPr>
          <p:cNvPr id="9" name="Shape 6"/>
          <p:cNvSpPr/>
          <p:nvPr/>
        </p:nvSpPr>
        <p:spPr>
          <a:xfrm>
            <a:off x="777240" y="268833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" y="278892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2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1307592" y="2670048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Preguntas específicas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1307592" y="298094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Pueden requerirse aclaraciones sobre datos, código, metodología, resultados o impacto.</a:t>
            </a:r>
            <a:endParaRPr lang="en-US" sz="1180"/>
          </a:p>
        </p:txBody>
      </p:sp>
      <p:sp>
        <p:nvSpPr>
          <p:cNvPr id="13" name="Shape 10"/>
          <p:cNvSpPr/>
          <p:nvPr/>
        </p:nvSpPr>
        <p:spPr>
          <a:xfrm>
            <a:off x="777240" y="3785616"/>
            <a:ext cx="384048" cy="38404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" y="388620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3</a:t>
            </a:r>
            <a:endParaRPr lang="en-US" sz="950"/>
          </a:p>
        </p:txBody>
      </p:sp>
      <p:sp>
        <p:nvSpPr>
          <p:cNvPr id="15" name="Text 12"/>
          <p:cNvSpPr/>
          <p:nvPr/>
        </p:nvSpPr>
        <p:spPr>
          <a:xfrm>
            <a:off x="1307592" y="3767328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Puntualidad técnica</a:t>
            </a:r>
            <a:endParaRPr lang="en-US" sz="1450"/>
          </a:p>
        </p:txBody>
      </p:sp>
      <p:sp>
        <p:nvSpPr>
          <p:cNvPr id="16" name="Text 13"/>
          <p:cNvSpPr/>
          <p:nvPr/>
        </p:nvSpPr>
        <p:spPr>
          <a:xfrm>
            <a:off x="1307592" y="407822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Ingresar tarde o sin pantalla lista reduce el tiempo real de exposición.</a:t>
            </a:r>
            <a:endParaRPr lang="en-US" sz="1180"/>
          </a:p>
        </p:txBody>
      </p:sp>
      <p:sp>
        <p:nvSpPr>
          <p:cNvPr id="17" name="Text 14"/>
          <p:cNvSpPr/>
          <p:nvPr/>
        </p:nvSpPr>
        <p:spPr>
          <a:xfrm>
            <a:off x="914400" y="5257800"/>
            <a:ext cx="10287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50" b="1" err="1">
                <a:solidFill>
                  <a:srgbClr val="CE1126"/>
                </a:solidFill>
              </a:rPr>
              <a:t>Importante</a:t>
            </a:r>
            <a:r>
              <a:rPr lang="en-US" sz="1750" b="1">
                <a:solidFill>
                  <a:srgbClr val="CE1126"/>
                </a:solidFill>
              </a:rPr>
              <a:t>: La </a:t>
            </a:r>
            <a:r>
              <a:rPr lang="en-US" sz="1750" b="1" err="1">
                <a:solidFill>
                  <a:srgbClr val="CE1126"/>
                </a:solidFill>
              </a:rPr>
              <a:t>asistencia</a:t>
            </a:r>
            <a:r>
              <a:rPr lang="en-US" sz="1750" b="1">
                <a:solidFill>
                  <a:srgbClr val="CE1126"/>
                </a:solidFill>
              </a:rPr>
              <a:t> </a:t>
            </a:r>
            <a:r>
              <a:rPr lang="en-US" sz="1750" b="1" err="1">
                <a:solidFill>
                  <a:srgbClr val="CE1126"/>
                </a:solidFill>
              </a:rPr>
              <a:t>obligatoria</a:t>
            </a:r>
            <a:r>
              <a:rPr lang="en-US" sz="1750" b="1">
                <a:solidFill>
                  <a:srgbClr val="CE1126"/>
                </a:solidFill>
              </a:rPr>
              <a:t> de </a:t>
            </a:r>
            <a:r>
              <a:rPr lang="en-US" sz="1750" b="1" err="1">
                <a:solidFill>
                  <a:srgbClr val="CE1126"/>
                </a:solidFill>
              </a:rPr>
              <a:t>todos</a:t>
            </a:r>
            <a:r>
              <a:rPr lang="en-US" sz="1750" b="1">
                <a:solidFill>
                  <a:srgbClr val="CE1126"/>
                </a:solidFill>
              </a:rPr>
              <a:t> los </a:t>
            </a:r>
            <a:r>
              <a:rPr lang="en-US" sz="1750" b="1" err="1">
                <a:solidFill>
                  <a:srgbClr val="CE1126"/>
                </a:solidFill>
              </a:rPr>
              <a:t>integrantes</a:t>
            </a:r>
            <a:r>
              <a:rPr lang="en-US" sz="1750" b="1">
                <a:solidFill>
                  <a:srgbClr val="CE1126"/>
                </a:solidFill>
              </a:rPr>
              <a:t> del </a:t>
            </a:r>
            <a:r>
              <a:rPr lang="en-US" sz="1750" b="1" err="1">
                <a:solidFill>
                  <a:srgbClr val="CE1126"/>
                </a:solidFill>
              </a:rPr>
              <a:t>equipo</a:t>
            </a:r>
            <a:r>
              <a:rPr lang="en-US" sz="1750" b="1">
                <a:solidFill>
                  <a:srgbClr val="CE1126"/>
                </a:solidFill>
              </a:rPr>
              <a:t>. </a:t>
            </a:r>
            <a:br>
              <a:rPr lang="en-US" sz="1750" b="1">
                <a:solidFill>
                  <a:srgbClr val="CE1126"/>
                </a:solidFill>
              </a:rPr>
            </a:br>
            <a:r>
              <a:rPr lang="en-US" sz="1750" b="1">
                <a:solidFill>
                  <a:srgbClr val="CE1126"/>
                </a:solidFill>
              </a:rPr>
              <a:t>Es Libertad de los </a:t>
            </a:r>
            <a:r>
              <a:rPr lang="en-US" sz="1750" b="1" err="1">
                <a:solidFill>
                  <a:srgbClr val="CE1126"/>
                </a:solidFill>
              </a:rPr>
              <a:t>equipos</a:t>
            </a:r>
            <a:r>
              <a:rPr lang="en-US" sz="1750" b="1">
                <a:solidFill>
                  <a:srgbClr val="CE1126"/>
                </a:solidFill>
              </a:rPr>
              <a:t> </a:t>
            </a:r>
            <a:r>
              <a:rPr lang="en-US" sz="1750" b="1" err="1">
                <a:solidFill>
                  <a:srgbClr val="CE1126"/>
                </a:solidFill>
              </a:rPr>
              <a:t>como</a:t>
            </a:r>
            <a:r>
              <a:rPr lang="en-US" sz="1750" b="1">
                <a:solidFill>
                  <a:srgbClr val="CE1126"/>
                </a:solidFill>
              </a:rPr>
              <a:t> van a presenter </a:t>
            </a:r>
            <a:r>
              <a:rPr lang="en-US" sz="1750" b="1" err="1">
                <a:solidFill>
                  <a:srgbClr val="CE1126"/>
                </a:solidFill>
              </a:rPr>
              <a:t>el</a:t>
            </a:r>
            <a:r>
              <a:rPr lang="en-US" sz="1750" b="1">
                <a:solidFill>
                  <a:srgbClr val="CE1126"/>
                </a:solidFill>
              </a:rPr>
              <a:t> Proyecto. Si </a:t>
            </a:r>
            <a:r>
              <a:rPr lang="en-US" sz="1750" b="1" err="1">
                <a:solidFill>
                  <a:srgbClr val="CE1126"/>
                </a:solidFill>
              </a:rPr>
              <a:t>deciden</a:t>
            </a:r>
            <a:r>
              <a:rPr lang="en-US" sz="1750" b="1">
                <a:solidFill>
                  <a:srgbClr val="CE1126"/>
                </a:solidFill>
              </a:rPr>
              <a:t> que </a:t>
            </a:r>
            <a:r>
              <a:rPr lang="en-US" sz="1750" b="1" err="1">
                <a:solidFill>
                  <a:srgbClr val="CE1126"/>
                </a:solidFill>
              </a:rPr>
              <a:t>todo</a:t>
            </a:r>
            <a:r>
              <a:rPr lang="en-US" sz="1750" b="1">
                <a:solidFill>
                  <a:srgbClr val="CE1126"/>
                </a:solidFill>
              </a:rPr>
              <a:t> </a:t>
            </a:r>
            <a:r>
              <a:rPr lang="en-US" sz="1750" b="1" err="1">
                <a:solidFill>
                  <a:srgbClr val="CE1126"/>
                </a:solidFill>
              </a:rPr>
              <a:t>el</a:t>
            </a:r>
            <a:r>
              <a:rPr lang="en-US" sz="1750" b="1">
                <a:solidFill>
                  <a:srgbClr val="CE1126"/>
                </a:solidFill>
              </a:rPr>
              <a:t> </a:t>
            </a:r>
            <a:r>
              <a:rPr lang="en-US" sz="1750" b="1" err="1">
                <a:solidFill>
                  <a:srgbClr val="CE1126"/>
                </a:solidFill>
              </a:rPr>
              <a:t>equipo</a:t>
            </a:r>
            <a:r>
              <a:rPr lang="en-US" sz="1750" b="1">
                <a:solidFill>
                  <a:srgbClr val="CE1126"/>
                </a:solidFill>
              </a:rPr>
              <a:t> </a:t>
            </a:r>
            <a:r>
              <a:rPr lang="en-US" sz="1750" b="1" err="1">
                <a:solidFill>
                  <a:srgbClr val="CE1126"/>
                </a:solidFill>
              </a:rPr>
              <a:t>presenta</a:t>
            </a:r>
            <a:r>
              <a:rPr lang="en-US" sz="1750" b="1">
                <a:solidFill>
                  <a:srgbClr val="CE1126"/>
                </a:solidFill>
              </a:rPr>
              <a:t> o solo un </a:t>
            </a:r>
            <a:r>
              <a:rPr lang="en-US" sz="1750" b="1" err="1">
                <a:solidFill>
                  <a:srgbClr val="CE1126"/>
                </a:solidFill>
              </a:rPr>
              <a:t>integrante</a:t>
            </a:r>
            <a:r>
              <a:rPr lang="en-US" sz="1750" b="1">
                <a:solidFill>
                  <a:srgbClr val="CE1126"/>
                </a:solidFill>
              </a:rPr>
              <a:t>. </a:t>
            </a:r>
          </a:p>
          <a:p>
            <a:pPr marL="0" indent="0" algn="ctr">
              <a:buNone/>
            </a:pPr>
            <a:r>
              <a:rPr lang="en-US" sz="1750" b="1">
                <a:solidFill>
                  <a:srgbClr val="CE1126"/>
                </a:solidFill>
              </a:rPr>
              <a:t>Sin embargo, la </a:t>
            </a:r>
            <a:r>
              <a:rPr lang="en-US" sz="1750" b="1" err="1">
                <a:solidFill>
                  <a:srgbClr val="CE1126"/>
                </a:solidFill>
              </a:rPr>
              <a:t>asistencia</a:t>
            </a:r>
            <a:r>
              <a:rPr lang="en-US" sz="1750" b="1">
                <a:solidFill>
                  <a:srgbClr val="CE1126"/>
                </a:solidFill>
              </a:rPr>
              <a:t> de </a:t>
            </a:r>
            <a:r>
              <a:rPr lang="en-US" sz="1750" b="1" err="1">
                <a:solidFill>
                  <a:srgbClr val="CE1126"/>
                </a:solidFill>
              </a:rPr>
              <a:t>todo</a:t>
            </a:r>
            <a:r>
              <a:rPr lang="en-US" sz="1750" b="1">
                <a:solidFill>
                  <a:srgbClr val="CE1126"/>
                </a:solidFill>
              </a:rPr>
              <a:t> </a:t>
            </a:r>
            <a:r>
              <a:rPr lang="en-US" sz="1750" b="1" err="1">
                <a:solidFill>
                  <a:srgbClr val="CE1126"/>
                </a:solidFill>
              </a:rPr>
              <a:t>el</a:t>
            </a:r>
            <a:r>
              <a:rPr lang="en-US" sz="1750" b="1">
                <a:solidFill>
                  <a:srgbClr val="CE1126"/>
                </a:solidFill>
              </a:rPr>
              <a:t> </a:t>
            </a:r>
            <a:r>
              <a:rPr lang="en-US" sz="1750" b="1" err="1">
                <a:solidFill>
                  <a:srgbClr val="CE1126"/>
                </a:solidFill>
              </a:rPr>
              <a:t>equipo</a:t>
            </a:r>
            <a:r>
              <a:rPr lang="en-US" sz="1750" b="1">
                <a:solidFill>
                  <a:srgbClr val="CE1126"/>
                </a:solidFill>
              </a:rPr>
              <a:t> es </a:t>
            </a:r>
            <a:r>
              <a:rPr lang="en-US" sz="1750" b="1" err="1">
                <a:solidFill>
                  <a:srgbClr val="CE1126"/>
                </a:solidFill>
              </a:rPr>
              <a:t>obligatoria</a:t>
            </a:r>
            <a:endParaRPr lang="en-US" sz="1750"/>
          </a:p>
        </p:txBody>
      </p:sp>
      <p:sp>
        <p:nvSpPr>
          <p:cNvPr id="18" name="Shape 1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20" name="Text 17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03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Cupos por nivel y agendamiento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Diligenciar el espacio correspondiente evita cruces y reprocesos.</a:t>
            </a:r>
            <a:endParaRPr lang="en-US" sz="122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>
                <a:solidFill>
                  <a:srgbClr val="0065B3"/>
                </a:solidFill>
              </a:rPr>
              <a:t>Básico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5E6A78"/>
                </a:solidFill>
              </a:rPr>
              <a:t>Solo si ese es el nivel asignado al equipo.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47091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>
                <a:solidFill>
                  <a:srgbClr val="F08A00"/>
                </a:solidFill>
              </a:rPr>
              <a:t>Intermedio</a:t>
            </a:r>
            <a:endParaRPr lang="en-US" sz="2500"/>
          </a:p>
        </p:txBody>
      </p:sp>
      <p:sp>
        <p:nvSpPr>
          <p:cNvPr id="7" name="Text 5"/>
          <p:cNvSpPr/>
          <p:nvPr/>
        </p:nvSpPr>
        <p:spPr>
          <a:xfrm>
            <a:off x="470916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5E6A78"/>
                </a:solidFill>
              </a:rPr>
              <a:t>No ocupar cupos de otros niveles.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50392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>
                <a:solidFill>
                  <a:srgbClr val="CE1126"/>
                </a:solidFill>
              </a:rPr>
              <a:t>Avanzado</a:t>
            </a:r>
            <a:endParaRPr lang="en-US" sz="2500"/>
          </a:p>
        </p:txBody>
      </p:sp>
      <p:sp>
        <p:nvSpPr>
          <p:cNvPr id="9" name="Text 7"/>
          <p:cNvSpPr/>
          <p:nvPr/>
        </p:nvSpPr>
        <p:spPr>
          <a:xfrm>
            <a:off x="8503920" y="2331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5E6A78"/>
                </a:solidFill>
              </a:rPr>
              <a:t>Validar antes de diligenciar el formulario.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1051560" y="3246120"/>
            <a:ext cx="10012680" cy="0"/>
          </a:xfrm>
          <a:prstGeom prst="line">
            <a:avLst/>
          </a:prstGeom>
          <a:noFill/>
          <a:ln w="25400">
            <a:solidFill>
              <a:srgbClr val="D8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3950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082B5B"/>
                </a:solidFill>
              </a:rPr>
              <a:t>Si no recuerdan el nivel, deben consultar la página oficial por ID del equipo o por correo registrado.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828800" y="4617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>
                <a:solidFill>
                  <a:srgbClr val="5E6A78"/>
                </a:solidFill>
              </a:rPr>
              <a:t>Aunque cada equipo debería conocer su nivel, esta validación evita errores de programación.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04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 de sustentación: 15 minutos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Por volumen de equipos y solo 4 días, el control del tiempo será estricto.</a:t>
            </a:r>
            <a:endParaRPr lang="en-US" sz="1220"/>
          </a:p>
        </p:txBody>
      </p:sp>
      <p:pic>
        <p:nvPicPr>
          <p:cNvPr id="4" name="Image 0" descr="/mnt/data/a_clean_flat_vector_illustration_infographic_sce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4754880" cy="26791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64208"/>
            <a:ext cx="384048" cy="384048"/>
          </a:xfrm>
          <a:prstGeom prst="ellipse">
            <a:avLst/>
          </a:prstGeom>
          <a:solidFill>
            <a:srgbClr val="0065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" y="176479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1</a:t>
            </a:r>
            <a:endParaRPr lang="en-US" sz="950"/>
          </a:p>
        </p:txBody>
      </p:sp>
      <p:sp>
        <p:nvSpPr>
          <p:cNvPr id="7" name="Text 4"/>
          <p:cNvSpPr/>
          <p:nvPr/>
        </p:nvSpPr>
        <p:spPr>
          <a:xfrm>
            <a:off x="1353312" y="1645920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0–5 min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1353312" y="195681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Ingreso, asistencia, audio, cámara y compartir pantalla.</a:t>
            </a:r>
            <a:endParaRPr lang="en-US" sz="1180"/>
          </a:p>
        </p:txBody>
      </p:sp>
      <p:sp>
        <p:nvSpPr>
          <p:cNvPr id="9" name="Shape 6"/>
          <p:cNvSpPr/>
          <p:nvPr/>
        </p:nvSpPr>
        <p:spPr>
          <a:xfrm>
            <a:off x="822960" y="2715768"/>
            <a:ext cx="384048" cy="38404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" y="281635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2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1353312" y="2697480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5–15 min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1353312" y="300837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Pitch ejecutivo del proyecto: claro, corto y verificable.</a:t>
            </a:r>
            <a:endParaRPr lang="en-US" sz="1180"/>
          </a:p>
        </p:txBody>
      </p:sp>
      <p:sp>
        <p:nvSpPr>
          <p:cNvPr id="13" name="Shape 10"/>
          <p:cNvSpPr/>
          <p:nvPr/>
        </p:nvSpPr>
        <p:spPr>
          <a:xfrm>
            <a:off x="822960" y="376732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" y="38679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3</a:t>
            </a:r>
            <a:endParaRPr lang="en-US" sz="950"/>
          </a:p>
        </p:txBody>
      </p:sp>
      <p:sp>
        <p:nvSpPr>
          <p:cNvPr id="15" name="Text 12"/>
          <p:cNvSpPr/>
          <p:nvPr/>
        </p:nvSpPr>
        <p:spPr>
          <a:xfrm>
            <a:off x="1353312" y="3749040"/>
            <a:ext cx="4800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5–15 min</a:t>
            </a:r>
            <a:endParaRPr lang="en-US" sz="1450"/>
          </a:p>
        </p:txBody>
      </p:sp>
      <p:sp>
        <p:nvSpPr>
          <p:cNvPr id="16" name="Text 13"/>
          <p:cNvSpPr/>
          <p:nvPr/>
        </p:nvSpPr>
        <p:spPr>
          <a:xfrm>
            <a:off x="1353312" y="405993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Preguntas rápidas, aclaraciones o cierre técnico.</a:t>
            </a:r>
            <a:endParaRPr lang="en-US" sz="1180"/>
          </a:p>
        </p:txBody>
      </p:sp>
      <p:sp>
        <p:nvSpPr>
          <p:cNvPr id="17" name="Text 14"/>
          <p:cNvSpPr/>
          <p:nvPr/>
        </p:nvSpPr>
        <p:spPr>
          <a:xfrm>
            <a:off x="868680" y="5175504"/>
            <a:ext cx="10469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>
                <a:solidFill>
                  <a:srgbClr val="CE1126"/>
                </a:solidFill>
              </a:rPr>
              <a:t>Aclaración importante: con </a:t>
            </a:r>
            <a:r>
              <a:rPr lang="en-US" sz="1600" b="1" err="1">
                <a:solidFill>
                  <a:srgbClr val="CE1126"/>
                </a:solidFill>
              </a:rPr>
              <a:t>este</a:t>
            </a:r>
            <a:r>
              <a:rPr lang="en-US" sz="1600" b="1">
                <a:solidFill>
                  <a:srgbClr val="CE1126"/>
                </a:solidFill>
              </a:rPr>
              <a:t> </a:t>
            </a:r>
            <a:r>
              <a:rPr lang="en-US" sz="1600" b="1" err="1">
                <a:solidFill>
                  <a:srgbClr val="CE1126"/>
                </a:solidFill>
              </a:rPr>
              <a:t>esquema</a:t>
            </a:r>
            <a:r>
              <a:rPr lang="en-US" sz="1600" b="1">
                <a:solidFill>
                  <a:srgbClr val="CE1126"/>
                </a:solidFill>
              </a:rPr>
              <a:t> se </a:t>
            </a:r>
            <a:r>
              <a:rPr lang="en-US" sz="1600" b="1" err="1">
                <a:solidFill>
                  <a:srgbClr val="CE1126"/>
                </a:solidFill>
              </a:rPr>
              <a:t>garantiza</a:t>
            </a:r>
            <a:r>
              <a:rPr lang="en-US" sz="1600" b="1">
                <a:solidFill>
                  <a:srgbClr val="CE1126"/>
                </a:solidFill>
              </a:rPr>
              <a:t> un pitch de 10 min, </a:t>
            </a:r>
            <a:r>
              <a:rPr lang="en-US" sz="1600" b="1" err="1">
                <a:solidFill>
                  <a:srgbClr val="CE1126"/>
                </a:solidFill>
              </a:rPr>
              <a:t>pueden</a:t>
            </a:r>
            <a:r>
              <a:rPr lang="en-US" sz="1600" b="1">
                <a:solidFill>
                  <a:srgbClr val="CE1126"/>
                </a:solidFill>
              </a:rPr>
              <a:t> </a:t>
            </a:r>
            <a:r>
              <a:rPr lang="en-US" sz="1600" b="1" err="1">
                <a:solidFill>
                  <a:srgbClr val="CE1126"/>
                </a:solidFill>
              </a:rPr>
              <a:t>existir</a:t>
            </a:r>
            <a:r>
              <a:rPr lang="en-US" sz="1600" b="1">
                <a:solidFill>
                  <a:srgbClr val="CE1126"/>
                </a:solidFill>
              </a:rPr>
              <a:t> </a:t>
            </a:r>
            <a:r>
              <a:rPr lang="en-US" sz="1600" b="1" err="1">
                <a:solidFill>
                  <a:srgbClr val="CE1126"/>
                </a:solidFill>
              </a:rPr>
              <a:t>preguntas</a:t>
            </a:r>
            <a:r>
              <a:rPr lang="en-US" sz="1600" b="1">
                <a:solidFill>
                  <a:srgbClr val="CE1126"/>
                </a:solidFill>
              </a:rPr>
              <a:t> </a:t>
            </a:r>
            <a:r>
              <a:rPr lang="en-US" sz="1600" b="1" err="1">
                <a:solidFill>
                  <a:srgbClr val="CE1126"/>
                </a:solidFill>
              </a:rPr>
              <a:t>muy</a:t>
            </a:r>
            <a:r>
              <a:rPr lang="en-US" sz="1600" b="1">
                <a:solidFill>
                  <a:srgbClr val="CE1126"/>
                </a:solidFill>
              </a:rPr>
              <a:t> </a:t>
            </a:r>
            <a:r>
              <a:rPr lang="en-US" sz="1600" b="1" err="1">
                <a:solidFill>
                  <a:srgbClr val="CE1126"/>
                </a:solidFill>
              </a:rPr>
              <a:t>cortas</a:t>
            </a:r>
            <a:r>
              <a:rPr lang="en-US" sz="1600" b="1">
                <a:solidFill>
                  <a:srgbClr val="CE1126"/>
                </a:solidFill>
              </a:rPr>
              <a:t> para </a:t>
            </a:r>
            <a:r>
              <a:rPr lang="en-US" sz="1600" b="1" err="1">
                <a:solidFill>
                  <a:srgbClr val="CE1126"/>
                </a:solidFill>
              </a:rPr>
              <a:t>hacer</a:t>
            </a:r>
            <a:r>
              <a:rPr lang="en-US" sz="1600" b="1">
                <a:solidFill>
                  <a:srgbClr val="CE1126"/>
                </a:solidFill>
              </a:rPr>
              <a:t> </a:t>
            </a:r>
            <a:r>
              <a:rPr lang="en-US" sz="1600" b="1" err="1">
                <a:solidFill>
                  <a:srgbClr val="CE1126"/>
                </a:solidFill>
              </a:rPr>
              <a:t>precisiones</a:t>
            </a:r>
            <a:r>
              <a:rPr lang="en-US" sz="1600" b="1">
                <a:solidFill>
                  <a:srgbClr val="CE1126"/>
                </a:solidFill>
              </a:rPr>
              <a:t> </a:t>
            </a:r>
            <a:r>
              <a:rPr lang="en-US" sz="1600" b="1" err="1">
                <a:solidFill>
                  <a:srgbClr val="CE1126"/>
                </a:solidFill>
              </a:rPr>
              <a:t>técnicas</a:t>
            </a:r>
            <a:endParaRPr lang="en-US" sz="1600"/>
          </a:p>
        </p:txBody>
      </p:sp>
      <p:sp>
        <p:nvSpPr>
          <p:cNvPr id="18" name="Shape 1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20" name="Text 17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05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sugerida del pitch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Una presentación corta debe priorizar lo evaluable.</a:t>
            </a:r>
            <a:endParaRPr lang="en-US" sz="1220"/>
          </a:p>
        </p:txBody>
      </p:sp>
      <p:sp>
        <p:nvSpPr>
          <p:cNvPr id="4" name="Shape 2"/>
          <p:cNvSpPr/>
          <p:nvPr/>
        </p:nvSpPr>
        <p:spPr>
          <a:xfrm>
            <a:off x="868680" y="1591056"/>
            <a:ext cx="384048" cy="384048"/>
          </a:xfrm>
          <a:prstGeom prst="ellipse">
            <a:avLst/>
          </a:prstGeom>
          <a:solidFill>
            <a:srgbClr val="0065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69164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1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399032" y="157276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Proyecto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1399032" y="1883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Nombre, ID, nivel e integrantes.</a:t>
            </a:r>
            <a:endParaRPr lang="en-US" sz="1180"/>
          </a:p>
        </p:txBody>
      </p:sp>
      <p:sp>
        <p:nvSpPr>
          <p:cNvPr id="8" name="Shape 6"/>
          <p:cNvSpPr/>
          <p:nvPr/>
        </p:nvSpPr>
        <p:spPr>
          <a:xfrm>
            <a:off x="4617720" y="1591056"/>
            <a:ext cx="384048" cy="38404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69164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2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5148072" y="157276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Problema</a:t>
            </a:r>
            <a:endParaRPr lang="en-US" sz="1450"/>
          </a:p>
        </p:txBody>
      </p:sp>
      <p:sp>
        <p:nvSpPr>
          <p:cNvPr id="11" name="Text 9"/>
          <p:cNvSpPr/>
          <p:nvPr/>
        </p:nvSpPr>
        <p:spPr>
          <a:xfrm>
            <a:off x="5148072" y="1883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Necesidad o reto abordado.</a:t>
            </a:r>
            <a:endParaRPr lang="en-US" sz="1180"/>
          </a:p>
        </p:txBody>
      </p:sp>
      <p:sp>
        <p:nvSpPr>
          <p:cNvPr id="12" name="Shape 10"/>
          <p:cNvSpPr/>
          <p:nvPr/>
        </p:nvSpPr>
        <p:spPr>
          <a:xfrm>
            <a:off x="8366760" y="159105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69164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3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8897112" y="1572768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Datos abiertos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>
          <a:xfrm>
            <a:off x="8897112" y="1883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Fuentes, variables y tratamiento.</a:t>
            </a:r>
            <a:endParaRPr lang="en-US" sz="1180"/>
          </a:p>
        </p:txBody>
      </p:sp>
      <p:sp>
        <p:nvSpPr>
          <p:cNvPr id="16" name="Shape 14"/>
          <p:cNvSpPr/>
          <p:nvPr/>
        </p:nvSpPr>
        <p:spPr>
          <a:xfrm>
            <a:off x="868680" y="2889504"/>
            <a:ext cx="384048" cy="384048"/>
          </a:xfrm>
          <a:prstGeom prst="ellipse">
            <a:avLst/>
          </a:prstGeom>
          <a:solidFill>
            <a:srgbClr val="CE11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29900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4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1399032" y="287121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IA / analítica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1399032" y="31821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Modelo, técnica o automatización.</a:t>
            </a:r>
            <a:endParaRPr lang="en-US" sz="1180"/>
          </a:p>
        </p:txBody>
      </p:sp>
      <p:sp>
        <p:nvSpPr>
          <p:cNvPr id="20" name="Shape 18"/>
          <p:cNvSpPr/>
          <p:nvPr/>
        </p:nvSpPr>
        <p:spPr>
          <a:xfrm>
            <a:off x="4617720" y="2889504"/>
            <a:ext cx="384048" cy="384048"/>
          </a:xfrm>
          <a:prstGeom prst="ellipse">
            <a:avLst/>
          </a:prstGeom>
          <a:solidFill>
            <a:srgbClr val="0065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9900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5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5148072" y="287121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Resultados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5148072" y="31821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Hallazgos, demo o prototipo.</a:t>
            </a:r>
            <a:endParaRPr lang="en-US" sz="1180"/>
          </a:p>
        </p:txBody>
      </p:sp>
      <p:sp>
        <p:nvSpPr>
          <p:cNvPr id="24" name="Shape 22"/>
          <p:cNvSpPr/>
          <p:nvPr/>
        </p:nvSpPr>
        <p:spPr>
          <a:xfrm>
            <a:off x="8366760" y="2889504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75904" y="29900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6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8897112" y="287121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Impacto</a:t>
            </a:r>
            <a:endParaRPr lang="en-US" sz="1450"/>
          </a:p>
        </p:txBody>
      </p:sp>
      <p:sp>
        <p:nvSpPr>
          <p:cNvPr id="27" name="Text 25"/>
          <p:cNvSpPr/>
          <p:nvPr/>
        </p:nvSpPr>
        <p:spPr>
          <a:xfrm>
            <a:off x="8897112" y="31821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Valor público y sostenibilidad.</a:t>
            </a:r>
            <a:endParaRPr lang="en-US" sz="1180"/>
          </a:p>
        </p:txBody>
      </p:sp>
      <p:sp>
        <p:nvSpPr>
          <p:cNvPr id="28" name="Text 26"/>
          <p:cNvSpPr/>
          <p:nvPr/>
        </p:nvSpPr>
        <p:spPr>
          <a:xfrm>
            <a:off x="1463040" y="50474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82B5B"/>
                </a:solidFill>
              </a:rPr>
              <a:t>Regla práctica: si una diapositiva no ayuda a evaluar el proyecto, elimínenla.</a:t>
            </a:r>
            <a:endParaRPr lang="en-US" sz="2200"/>
          </a:p>
        </p:txBody>
      </p:sp>
      <p:sp>
        <p:nvSpPr>
          <p:cNvPr id="29" name="Text 27"/>
          <p:cNvSpPr/>
          <p:nvPr/>
        </p:nvSpPr>
        <p:spPr>
          <a:xfrm>
            <a:off x="2148840" y="55778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>
                <a:solidFill>
                  <a:srgbClr val="5E6A78"/>
                </a:solidFill>
              </a:rPr>
              <a:t>La pregunta central será: ¿resuelve algo concreto con datos abiertos e IA?</a:t>
            </a:r>
            <a:endParaRPr lang="en-US" sz="1450"/>
          </a:p>
        </p:txBody>
      </p:sp>
      <p:sp>
        <p:nvSpPr>
          <p:cNvPr id="30" name="Shape 28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32" name="Text 30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06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e impacto esperado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La sustentación debe cerrar el ciclo entre problema, solución y valor público.</a:t>
            </a:r>
            <a:endParaRPr lang="en-US" sz="1220"/>
          </a:p>
        </p:txBody>
      </p:sp>
      <p:sp>
        <p:nvSpPr>
          <p:cNvPr id="4" name="Text 2"/>
          <p:cNvSpPr/>
          <p:nvPr/>
        </p:nvSpPr>
        <p:spPr>
          <a:xfrm>
            <a:off x="960120" y="16642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82B5B"/>
                </a:solidFill>
              </a:rPr>
              <a:t>Resultados</a:t>
            </a:r>
            <a:endParaRPr lang="en-US" sz="2700"/>
          </a:p>
        </p:txBody>
      </p:sp>
      <p:sp>
        <p:nvSpPr>
          <p:cNvPr id="5" name="Text 3"/>
          <p:cNvSpPr/>
          <p:nvPr/>
        </p:nvSpPr>
        <p:spPr>
          <a:xfrm>
            <a:off x="1005840" y="2331720"/>
            <a:ext cx="43891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Hallazgos principales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Métricas, pruebas o validaciones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Demo, tablero, notebook o prototipo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Evidencias de funcionamiento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6720840" y="16642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082B5B"/>
                </a:solidFill>
              </a:rPr>
              <a:t>Impacto</a:t>
            </a:r>
            <a:endParaRPr lang="en-US" sz="2700"/>
          </a:p>
        </p:txBody>
      </p:sp>
      <p:sp>
        <p:nvSpPr>
          <p:cNvPr id="7" name="Text 5"/>
          <p:cNvSpPr/>
          <p:nvPr/>
        </p:nvSpPr>
        <p:spPr>
          <a:xfrm>
            <a:off x="6766560" y="2331720"/>
            <a:ext cx="43891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Beneficiarios directos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Uso institucional o territorial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Escalabilidad y sostenibilidad</a:t>
            </a:r>
            <a:endParaRPr lang="en-US" sz="1700"/>
          </a:p>
          <a:p>
            <a:pPr marL="0" indent="0">
              <a:buNone/>
            </a:pPr>
            <a:r>
              <a:rPr lang="en-US" sz="1700">
                <a:solidFill>
                  <a:srgbClr val="1E2430"/>
                </a:solidFill>
              </a:rPr>
              <a:t>• Decisiones que puede mejorar</a:t>
            </a:r>
            <a:endParaRPr lang="en-US" sz="1700"/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0" cy="3291840"/>
          </a:xfrm>
          <a:prstGeom prst="line">
            <a:avLst/>
          </a:prstGeom>
          <a:noFill/>
          <a:ln w="25400">
            <a:solidFill>
              <a:srgbClr val="D8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54864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err="1">
                <a:solidFill>
                  <a:srgbClr val="0065B3"/>
                </a:solidFill>
              </a:rPr>
              <a:t>Importante</a:t>
            </a:r>
            <a:r>
              <a:rPr lang="en-US" sz="1700" b="1">
                <a:solidFill>
                  <a:srgbClr val="0065B3"/>
                </a:solidFill>
              </a:rPr>
              <a:t>: </a:t>
            </a:r>
            <a:r>
              <a:rPr lang="en-US" sz="1700" b="1" err="1">
                <a:solidFill>
                  <a:srgbClr val="0065B3"/>
                </a:solidFill>
              </a:rPr>
              <a:t>Estos</a:t>
            </a:r>
            <a:r>
              <a:rPr lang="en-US" sz="1700" b="1">
                <a:solidFill>
                  <a:srgbClr val="0065B3"/>
                </a:solidFill>
              </a:rPr>
              <a:t> </a:t>
            </a:r>
            <a:r>
              <a:rPr lang="en-US" sz="1700" b="1" err="1">
                <a:solidFill>
                  <a:srgbClr val="0065B3"/>
                </a:solidFill>
              </a:rPr>
              <a:t>criterios</a:t>
            </a:r>
            <a:r>
              <a:rPr lang="en-US" sz="1700" b="1">
                <a:solidFill>
                  <a:srgbClr val="0065B3"/>
                </a:solidFill>
              </a:rPr>
              <a:t> son una </a:t>
            </a:r>
            <a:r>
              <a:rPr lang="en-US" sz="1700" b="1" err="1">
                <a:solidFill>
                  <a:srgbClr val="0065B3"/>
                </a:solidFill>
              </a:rPr>
              <a:t>guía</a:t>
            </a:r>
            <a:r>
              <a:rPr lang="en-US" sz="1700" b="1">
                <a:solidFill>
                  <a:srgbClr val="0065B3"/>
                </a:solidFill>
              </a:rPr>
              <a:t>, </a:t>
            </a:r>
            <a:r>
              <a:rPr lang="en-US" sz="1700" b="1" err="1">
                <a:solidFill>
                  <a:srgbClr val="0065B3"/>
                </a:solidFill>
              </a:rPr>
              <a:t>importante</a:t>
            </a:r>
            <a:r>
              <a:rPr lang="en-US" sz="1700" b="1">
                <a:solidFill>
                  <a:srgbClr val="0065B3"/>
                </a:solidFill>
              </a:rPr>
              <a:t> que </a:t>
            </a:r>
            <a:r>
              <a:rPr lang="en-US" sz="1700" b="1" err="1">
                <a:solidFill>
                  <a:srgbClr val="0065B3"/>
                </a:solidFill>
              </a:rPr>
              <a:t>el</a:t>
            </a:r>
            <a:r>
              <a:rPr lang="en-US" sz="1700" b="1">
                <a:solidFill>
                  <a:srgbClr val="0065B3"/>
                </a:solidFill>
              </a:rPr>
              <a:t> </a:t>
            </a:r>
            <a:r>
              <a:rPr lang="en-US" sz="1700" b="1" err="1">
                <a:solidFill>
                  <a:srgbClr val="0065B3"/>
                </a:solidFill>
              </a:rPr>
              <a:t>equipo</a:t>
            </a:r>
            <a:r>
              <a:rPr lang="en-US" sz="1700" b="1">
                <a:solidFill>
                  <a:srgbClr val="0065B3"/>
                </a:solidFill>
              </a:rPr>
              <a:t> </a:t>
            </a:r>
            <a:r>
              <a:rPr lang="en-US" sz="1700" b="1" err="1">
                <a:solidFill>
                  <a:srgbClr val="0065B3"/>
                </a:solidFill>
              </a:rPr>
              <a:t>participante</a:t>
            </a:r>
            <a:r>
              <a:rPr lang="en-US" sz="1700" b="1">
                <a:solidFill>
                  <a:srgbClr val="0065B3"/>
                </a:solidFill>
              </a:rPr>
              <a:t> </a:t>
            </a:r>
            <a:r>
              <a:rPr lang="en-US" sz="1700" b="1" err="1">
                <a:solidFill>
                  <a:srgbClr val="0065B3"/>
                </a:solidFill>
              </a:rPr>
              <a:t>tenga</a:t>
            </a:r>
            <a:r>
              <a:rPr lang="en-US" sz="1700" b="1">
                <a:solidFill>
                  <a:srgbClr val="0065B3"/>
                </a:solidFill>
              </a:rPr>
              <a:t> claro que </a:t>
            </a:r>
            <a:r>
              <a:rPr lang="en-US" sz="1700" b="1" err="1">
                <a:solidFill>
                  <a:srgbClr val="0065B3"/>
                </a:solidFill>
              </a:rPr>
              <a:t>su</a:t>
            </a:r>
            <a:r>
              <a:rPr lang="en-US" sz="1700" b="1">
                <a:solidFill>
                  <a:srgbClr val="0065B3"/>
                </a:solidFill>
              </a:rPr>
              <a:t> </a:t>
            </a:r>
            <a:r>
              <a:rPr lang="en-US" sz="1700" b="1" err="1">
                <a:solidFill>
                  <a:srgbClr val="0065B3"/>
                </a:solidFill>
              </a:rPr>
              <a:t>presentación</a:t>
            </a:r>
            <a:r>
              <a:rPr lang="en-US" sz="1700" b="1">
                <a:solidFill>
                  <a:srgbClr val="0065B3"/>
                </a:solidFill>
              </a:rPr>
              <a:t> es libre. 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12" name="Text 10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08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Formulario y enlaces de validación técnica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Los recursos deben enviarse a tiempo para revisión del equipo técnico.</a:t>
            </a:r>
            <a:endParaRPr lang="en-US" sz="1220"/>
          </a:p>
        </p:txBody>
      </p:sp>
      <p:pic>
        <p:nvPicPr>
          <p:cNvPr id="4" name="Image 0" descr="/mnt/data/a_clean_vector_style_illustration_showing_a_softw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4754880" cy="2679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581912"/>
            <a:ext cx="43891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rgbClr val="082B5B"/>
                </a:solidFill>
              </a:rPr>
              <a:t>Deben registrar:</a:t>
            </a:r>
            <a:endParaRPr lang="en-US" sz="2000"/>
          </a:p>
        </p:txBody>
      </p:sp>
      <p:sp>
        <p:nvSpPr>
          <p:cNvPr id="6" name="Text 3"/>
          <p:cNvSpPr/>
          <p:nvPr/>
        </p:nvSpPr>
        <p:spPr>
          <a:xfrm>
            <a:off x="868680" y="2084832"/>
            <a:ext cx="49377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>
                <a:solidFill>
                  <a:srgbClr val="1E2430"/>
                </a:solidFill>
              </a:rPr>
              <a:t>1. Repositorio GitHub o GitLab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1E2430"/>
                </a:solidFill>
              </a:rPr>
              <a:t>2. Código fuente organizado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1E2430"/>
                </a:solidFill>
              </a:rPr>
              <a:t>3. Datos usados o enlaces oficiales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1E2430"/>
                </a:solidFill>
              </a:rPr>
              <a:t>4. README o documentación técnica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1E2430"/>
                </a:solidFill>
              </a:rPr>
              <a:t>5. Diapositivas de sustentación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1E2430"/>
                </a:solidFill>
              </a:rPr>
              <a:t>6. Demo, tablero, notebook o prototipo</a:t>
            </a:r>
            <a:endParaRPr lang="en-US" sz="1550"/>
          </a:p>
          <a:p>
            <a:pPr marL="0" indent="0">
              <a:buNone/>
            </a:pPr>
            <a:r>
              <a:rPr lang="en-US" sz="1550">
                <a:solidFill>
                  <a:srgbClr val="1E2430"/>
                </a:solidFill>
              </a:rPr>
              <a:t>7. Archivos complementarios</a:t>
            </a:r>
            <a:endParaRPr lang="en-US" sz="1550"/>
          </a:p>
        </p:txBody>
      </p:sp>
      <p:sp>
        <p:nvSpPr>
          <p:cNvPr id="7" name="Text 4"/>
          <p:cNvSpPr/>
          <p:nvPr/>
        </p:nvSpPr>
        <p:spPr>
          <a:xfrm>
            <a:off x="868680" y="5285232"/>
            <a:ext cx="10469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CE1126"/>
                </a:solidFill>
              </a:rPr>
              <a:t>Sin enlaces completos no hay condiciones suficientes para validar recursos, bases, código y resultados.</a:t>
            </a:r>
            <a:endParaRPr lang="en-US" sz="1650"/>
          </a:p>
        </p:txBody>
      </p:sp>
      <p:sp>
        <p:nvSpPr>
          <p:cNvPr id="8" name="Shape 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10" name="Text 7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09</a:t>
            </a:r>
            <a:endParaRPr lang="en-US"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>
                <a:solidFill>
                  <a:srgbClr val="082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Presentación sugerida: 6 a 8 diapositivas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>
                <a:solidFill>
                  <a:srgbClr val="5E6A78"/>
                </a:solidFill>
              </a:rPr>
              <a:t>Menos contenido, mejor orden y más claridad.</a:t>
            </a:r>
            <a:endParaRPr lang="en-US" sz="1220"/>
          </a:p>
        </p:txBody>
      </p:sp>
      <p:sp>
        <p:nvSpPr>
          <p:cNvPr id="4" name="Shape 2"/>
          <p:cNvSpPr/>
          <p:nvPr/>
        </p:nvSpPr>
        <p:spPr>
          <a:xfrm>
            <a:off x="868680" y="1481328"/>
            <a:ext cx="384048" cy="384048"/>
          </a:xfrm>
          <a:prstGeom prst="ellipse">
            <a:avLst/>
          </a:prstGeom>
          <a:solidFill>
            <a:srgbClr val="0065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5819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1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1399032" y="146304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Portada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1399032" y="177393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Nombre, ID, nivel e integrantes</a:t>
            </a:r>
            <a:endParaRPr lang="en-US" sz="1180"/>
          </a:p>
        </p:txBody>
      </p:sp>
      <p:sp>
        <p:nvSpPr>
          <p:cNvPr id="8" name="Shape 6"/>
          <p:cNvSpPr/>
          <p:nvPr/>
        </p:nvSpPr>
        <p:spPr>
          <a:xfrm>
            <a:off x="6400800" y="148132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5819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2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6931152" y="146304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Problema y objetivo</a:t>
            </a:r>
            <a:endParaRPr lang="en-US" sz="1450"/>
          </a:p>
        </p:txBody>
      </p:sp>
      <p:sp>
        <p:nvSpPr>
          <p:cNvPr id="11" name="Text 9"/>
          <p:cNvSpPr/>
          <p:nvPr/>
        </p:nvSpPr>
        <p:spPr>
          <a:xfrm>
            <a:off x="6931152" y="177393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Qué se busca resolver</a:t>
            </a:r>
            <a:endParaRPr lang="en-US" sz="1180"/>
          </a:p>
        </p:txBody>
      </p:sp>
      <p:sp>
        <p:nvSpPr>
          <p:cNvPr id="12" name="Shape 10"/>
          <p:cNvSpPr/>
          <p:nvPr/>
        </p:nvSpPr>
        <p:spPr>
          <a:xfrm>
            <a:off x="868680" y="2441448"/>
            <a:ext cx="384048" cy="38404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54203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3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1399032" y="242316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Datos abiertos</a:t>
            </a:r>
            <a:endParaRPr lang="en-US" sz="1450"/>
          </a:p>
        </p:txBody>
      </p:sp>
      <p:sp>
        <p:nvSpPr>
          <p:cNvPr id="15" name="Text 13"/>
          <p:cNvSpPr/>
          <p:nvPr/>
        </p:nvSpPr>
        <p:spPr>
          <a:xfrm>
            <a:off x="1399032" y="273405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Fuentes, variables y tratamiento</a:t>
            </a:r>
            <a:endParaRPr lang="en-US" sz="1180"/>
          </a:p>
        </p:txBody>
      </p:sp>
      <p:sp>
        <p:nvSpPr>
          <p:cNvPr id="16" name="Shape 14"/>
          <p:cNvSpPr/>
          <p:nvPr/>
        </p:nvSpPr>
        <p:spPr>
          <a:xfrm>
            <a:off x="6400800" y="2441448"/>
            <a:ext cx="384048" cy="384048"/>
          </a:xfrm>
          <a:prstGeom prst="ellipse">
            <a:avLst/>
          </a:prstGeom>
          <a:solidFill>
            <a:srgbClr val="CE11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9944" y="254203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4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6931152" y="242316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Solución e IA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6931152" y="273405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Funcionamiento y componente técnico</a:t>
            </a:r>
            <a:endParaRPr lang="en-US" sz="1180"/>
          </a:p>
        </p:txBody>
      </p:sp>
      <p:sp>
        <p:nvSpPr>
          <p:cNvPr id="20" name="Shape 18"/>
          <p:cNvSpPr/>
          <p:nvPr/>
        </p:nvSpPr>
        <p:spPr>
          <a:xfrm>
            <a:off x="868680" y="3401568"/>
            <a:ext cx="384048" cy="384048"/>
          </a:xfrm>
          <a:prstGeom prst="ellipse">
            <a:avLst/>
          </a:prstGeom>
          <a:solidFill>
            <a:srgbClr val="0065B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350215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5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1399032" y="338328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Resultados / demo</a:t>
            </a:r>
            <a:endParaRPr lang="en-US" sz="1450"/>
          </a:p>
        </p:txBody>
      </p:sp>
      <p:sp>
        <p:nvSpPr>
          <p:cNvPr id="23" name="Text 21"/>
          <p:cNvSpPr/>
          <p:nvPr/>
        </p:nvSpPr>
        <p:spPr>
          <a:xfrm>
            <a:off x="1399032" y="36941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Evidencia de avance o validación</a:t>
            </a:r>
            <a:endParaRPr lang="en-US" sz="1180"/>
          </a:p>
        </p:txBody>
      </p:sp>
      <p:sp>
        <p:nvSpPr>
          <p:cNvPr id="24" name="Shape 22"/>
          <p:cNvSpPr/>
          <p:nvPr/>
        </p:nvSpPr>
        <p:spPr>
          <a:xfrm>
            <a:off x="6400800" y="340156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350215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6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6931152" y="338328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Impacto</a:t>
            </a:r>
            <a:endParaRPr lang="en-US" sz="1450"/>
          </a:p>
        </p:txBody>
      </p:sp>
      <p:sp>
        <p:nvSpPr>
          <p:cNvPr id="27" name="Text 25"/>
          <p:cNvSpPr/>
          <p:nvPr/>
        </p:nvSpPr>
        <p:spPr>
          <a:xfrm>
            <a:off x="6931152" y="36941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Valor público y sostenibilidad</a:t>
            </a:r>
            <a:endParaRPr lang="en-US" sz="1180"/>
          </a:p>
        </p:txBody>
      </p:sp>
      <p:sp>
        <p:nvSpPr>
          <p:cNvPr id="28" name="Shape 26"/>
          <p:cNvSpPr/>
          <p:nvPr/>
        </p:nvSpPr>
        <p:spPr>
          <a:xfrm>
            <a:off x="868680" y="4361688"/>
            <a:ext cx="384048" cy="384048"/>
          </a:xfrm>
          <a:prstGeom prst="ellipse">
            <a:avLst/>
          </a:prstGeom>
          <a:solidFill>
            <a:srgbClr val="F08A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46227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7</a:t>
            </a:r>
            <a:endParaRPr lang="en-US" sz="950"/>
          </a:p>
        </p:txBody>
      </p:sp>
      <p:sp>
        <p:nvSpPr>
          <p:cNvPr id="30" name="Text 28"/>
          <p:cNvSpPr/>
          <p:nvPr/>
        </p:nvSpPr>
        <p:spPr>
          <a:xfrm>
            <a:off x="1399032" y="434340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Repositorio</a:t>
            </a:r>
            <a:endParaRPr lang="en-US" sz="1450"/>
          </a:p>
        </p:txBody>
      </p:sp>
      <p:sp>
        <p:nvSpPr>
          <p:cNvPr id="31" name="Text 29"/>
          <p:cNvSpPr/>
          <p:nvPr/>
        </p:nvSpPr>
        <p:spPr>
          <a:xfrm>
            <a:off x="1399032" y="465429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Recursos para revisión técnica</a:t>
            </a:r>
            <a:endParaRPr lang="en-US" sz="1180"/>
          </a:p>
        </p:txBody>
      </p:sp>
      <p:sp>
        <p:nvSpPr>
          <p:cNvPr id="32" name="Shape 30"/>
          <p:cNvSpPr/>
          <p:nvPr/>
        </p:nvSpPr>
        <p:spPr>
          <a:xfrm>
            <a:off x="6400800" y="4361688"/>
            <a:ext cx="384048" cy="384048"/>
          </a:xfrm>
          <a:prstGeom prst="ellipse">
            <a:avLst/>
          </a:prstGeom>
          <a:solidFill>
            <a:srgbClr val="CE11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446227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8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6931152" y="434340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>
                <a:solidFill>
                  <a:srgbClr val="082B5B"/>
                </a:solidFill>
              </a:rPr>
              <a:t>Cierre</a:t>
            </a:r>
            <a:endParaRPr lang="en-US" sz="1450"/>
          </a:p>
        </p:txBody>
      </p:sp>
      <p:sp>
        <p:nvSpPr>
          <p:cNvPr id="35" name="Text 33"/>
          <p:cNvSpPr/>
          <p:nvPr/>
        </p:nvSpPr>
        <p:spPr>
          <a:xfrm>
            <a:off x="6931152" y="465429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>
                <a:solidFill>
                  <a:srgbClr val="5E6A78"/>
                </a:solidFill>
              </a:rPr>
              <a:t>Valor diferencial del proyecto</a:t>
            </a:r>
            <a:endParaRPr lang="en-US" sz="1180"/>
          </a:p>
        </p:txBody>
      </p:sp>
      <p:sp>
        <p:nvSpPr>
          <p:cNvPr id="36" name="Text 34"/>
          <p:cNvSpPr/>
          <p:nvPr/>
        </p:nvSpPr>
        <p:spPr>
          <a:xfrm>
            <a:off x="1051560" y="5596128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30" b="1">
                <a:solidFill>
                  <a:srgbClr val="CE1126"/>
                </a:solidFill>
              </a:rPr>
              <a:t>No recomendamos 15 o 20 diapositivas: con ese volumen casi seguro se pierde el control del tiempo.</a:t>
            </a:r>
            <a:endParaRPr lang="en-US" sz="1630"/>
          </a:p>
        </p:txBody>
      </p:sp>
      <p:sp>
        <p:nvSpPr>
          <p:cNvPr id="37" name="Shape 35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528816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7A8796"/>
                </a:solidFill>
              </a:rPr>
              <a:t>Concurso Datos al Ecosistema 2026 · IA para Colombia</a:t>
            </a:r>
            <a:endParaRPr lang="en-US" sz="750"/>
          </a:p>
        </p:txBody>
      </p:sp>
      <p:sp>
        <p:nvSpPr>
          <p:cNvPr id="39" name="Text 37"/>
          <p:cNvSpPr/>
          <p:nvPr/>
        </p:nvSpPr>
        <p:spPr>
          <a:xfrm>
            <a:off x="11201400" y="65196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7A8796"/>
                </a:solidFill>
              </a:rPr>
              <a:t>10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 la sustentación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777240" y="1481328"/>
            <a:ext cx="384048" cy="38404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8191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✓</a:t>
            </a:r>
            <a:endParaRPr lang="en-US" sz="950"/>
          </a:p>
        </p:txBody>
      </p:sp>
      <p:sp>
        <p:nvSpPr>
          <p:cNvPr id="5" name="Text 3"/>
          <p:cNvSpPr/>
          <p:nvPr/>
        </p:nvSpPr>
        <p:spPr>
          <a:xfrm>
            <a:off x="1261872" y="153619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>
                <a:solidFill>
                  <a:srgbClr val="FFFFFF"/>
                </a:solidFill>
              </a:rPr>
              <a:t>Todo el equipo conoce el horario y está presente.</a:t>
            </a:r>
            <a:endParaRPr lang="en-US" sz="172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84048" cy="38404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49424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✓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1261872" y="2203704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>
                <a:solidFill>
                  <a:srgbClr val="FFFFFF"/>
                </a:solidFill>
              </a:rPr>
              <a:t>El cupo corresponde al nivel correcto: básico, intermedio o avanzado.</a:t>
            </a:r>
            <a:endParaRPr lang="en-US" sz="1720"/>
          </a:p>
        </p:txBody>
      </p:sp>
      <p:sp>
        <p:nvSpPr>
          <p:cNvPr id="9" name="Shape 7"/>
          <p:cNvSpPr/>
          <p:nvPr/>
        </p:nvSpPr>
        <p:spPr>
          <a:xfrm>
            <a:off x="777240" y="2816352"/>
            <a:ext cx="384048" cy="384048"/>
          </a:xfrm>
          <a:prstGeom prst="ellipse">
            <a:avLst/>
          </a:prstGeom>
          <a:solidFill>
            <a:srgbClr val="FCD11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916936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✓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1261872" y="2871216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>
                <a:solidFill>
                  <a:srgbClr val="FFFFFF"/>
                </a:solidFill>
              </a:rPr>
              <a:t>La presentación está ensayada con cronómetro.</a:t>
            </a:r>
            <a:endParaRPr lang="en-US" sz="1720"/>
          </a:p>
        </p:txBody>
      </p:sp>
      <p:sp>
        <p:nvSpPr>
          <p:cNvPr id="12" name="Shape 10"/>
          <p:cNvSpPr/>
          <p:nvPr/>
        </p:nvSpPr>
        <p:spPr>
          <a:xfrm>
            <a:off x="777240" y="3483864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5844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✓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1261872" y="353872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>
                <a:solidFill>
                  <a:srgbClr val="FFFFFF"/>
                </a:solidFill>
              </a:rPr>
              <a:t>Los enlaces del formulario están completos y accesibles.</a:t>
            </a:r>
            <a:endParaRPr lang="en-US" sz="1720"/>
          </a:p>
        </p:txBody>
      </p:sp>
      <p:sp>
        <p:nvSpPr>
          <p:cNvPr id="15" name="Shape 13"/>
          <p:cNvSpPr/>
          <p:nvPr/>
        </p:nvSpPr>
        <p:spPr>
          <a:xfrm>
            <a:off x="777240" y="4151376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25196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✓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1261872" y="4206240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>
                <a:solidFill>
                  <a:srgbClr val="FFFFFF"/>
                </a:solidFill>
              </a:rPr>
              <a:t>El repositorio tiene README, código, datos o enlaces y recursos de validación.</a:t>
            </a:r>
            <a:endParaRPr lang="en-US" sz="1720"/>
          </a:p>
        </p:txBody>
      </p:sp>
      <p:sp>
        <p:nvSpPr>
          <p:cNvPr id="18" name="Shape 16"/>
          <p:cNvSpPr/>
          <p:nvPr/>
        </p:nvSpPr>
        <p:spPr>
          <a:xfrm>
            <a:off x="777240" y="4818888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919472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✓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1261872" y="487375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>
                <a:solidFill>
                  <a:srgbClr val="FFFFFF"/>
                </a:solidFill>
              </a:rPr>
              <a:t>La solución puede explicarse en una frase clara: problema + datos + IA + impacto.</a:t>
            </a:r>
            <a:endParaRPr lang="en-US" sz="1720"/>
          </a:p>
        </p:txBody>
      </p:sp>
      <p:sp>
        <p:nvSpPr>
          <p:cNvPr id="21" name="Shape 19"/>
          <p:cNvSpPr/>
          <p:nvPr/>
        </p:nvSpPr>
        <p:spPr>
          <a:xfrm>
            <a:off x="777240" y="5961888"/>
            <a:ext cx="10652760" cy="0"/>
          </a:xfrm>
          <a:prstGeom prst="line">
            <a:avLst/>
          </a:prstGeom>
          <a:noFill/>
          <a:ln w="12700">
            <a:solidFill>
              <a:srgbClr val="466C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619048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B8CDE3"/>
                </a:solidFill>
              </a:rPr>
              <a:t>Fuente oficial: datos.gov.co · Página del Concurso Datos al Ecosistema 2026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0561320" y="61904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B8CDE3"/>
                </a:solidFill>
              </a:rPr>
              <a:t>Cierre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10</Slides>
  <Notes>10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Datos Abiertos Colombia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Sustentación de proyectos | Concurso Datos al Ecosistema 2026</dc:title>
  <dc:subject>Lineamientos de sustentación de proyectos</dc:subject>
  <dc:creator>Grupo Datos Abiertos</dc:creator>
  <cp:revision>6</cp:revision>
  <dcterms:created xsi:type="dcterms:W3CDTF">2026-07-01T22:05:44Z</dcterms:created>
  <dcterms:modified xsi:type="dcterms:W3CDTF">2026-07-21T15:12:08Z</dcterms:modified>
</cp:coreProperties>
</file>