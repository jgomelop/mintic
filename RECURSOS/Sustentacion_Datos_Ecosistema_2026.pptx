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46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gomelop/MINTIC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91440" cy="6858000"/>
          </a:xfrm>
          <a:prstGeom prst="rect">
            <a:avLst/>
          </a:prstGeom>
          <a:solidFill>
            <a:srgbClr val="147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7772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E09F2C"/>
                </a:solidFill>
                <a:latin typeface="Calibri"/>
              </a:rPr>
              <a:t>CONCURSO DATOS AL ECOSISTEMA 2026 · IA PARA COLOMBIA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6070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1" i="0" dirty="0">
                <a:solidFill>
                  <a:srgbClr val="FFFFFF"/>
                </a:solidFill>
                <a:latin typeface="Calibri"/>
              </a:rPr>
              <a:t>Del colegio a la </a:t>
            </a:r>
            <a:r>
              <a:rPr sz="4600" b="1" i="0" dirty="0" err="1">
                <a:solidFill>
                  <a:srgbClr val="FFFFFF"/>
                </a:solidFill>
                <a:latin typeface="Calibri"/>
              </a:rPr>
              <a:t>universidad</a:t>
            </a:r>
            <a:endParaRPr sz="4600" b="1" i="0" dirty="0">
              <a:solidFill>
                <a:srgbClr val="FFFFFF"/>
              </a:solidFill>
              <a:latin typeface="Calibri"/>
            </a:endParaRPr>
          </a:p>
          <a:p>
            <a:pPr algn="l">
              <a:lnSpc>
                <a:spcPct val="110000"/>
              </a:lnSpc>
              <a:spcBef>
                <a:spcPts val="1000"/>
              </a:spcBef>
            </a:pPr>
            <a:r>
              <a:rPr sz="2000" b="0" i="0" dirty="0" err="1">
                <a:solidFill>
                  <a:srgbClr val="CFDDE8"/>
                </a:solidFill>
                <a:latin typeface="Calibri"/>
              </a:rPr>
              <a:t>Inteligencia</a:t>
            </a:r>
            <a:r>
              <a:rPr sz="2000" b="0" i="0" dirty="0">
                <a:solidFill>
                  <a:srgbClr val="CFDDE8"/>
                </a:solidFill>
                <a:latin typeface="Calibri"/>
              </a:rPr>
              <a:t> territorial para </a:t>
            </a:r>
            <a:r>
              <a:rPr sz="2000" b="0" i="0" dirty="0" err="1">
                <a:solidFill>
                  <a:srgbClr val="CFDDE8"/>
                </a:solidFill>
                <a:latin typeface="Calibri"/>
              </a:rPr>
              <a:t>cerrar</a:t>
            </a:r>
            <a:r>
              <a:rPr sz="2000" b="0" i="0" dirty="0">
                <a:solidFill>
                  <a:srgbClr val="CFDDE8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CFDDE8"/>
                </a:solidFill>
                <a:latin typeface="Calibri"/>
              </a:rPr>
              <a:t>brechas</a:t>
            </a:r>
            <a:r>
              <a:rPr sz="2000" b="0" i="0" dirty="0">
                <a:solidFill>
                  <a:srgbClr val="CFDDE8"/>
                </a:solidFill>
                <a:latin typeface="Calibri"/>
              </a:rPr>
              <a:t> de </a:t>
            </a:r>
            <a:r>
              <a:rPr sz="2000" b="0" i="0" dirty="0" err="1">
                <a:solidFill>
                  <a:srgbClr val="CFDDE8"/>
                </a:solidFill>
                <a:latin typeface="Calibri"/>
              </a:rPr>
              <a:t>acceso</a:t>
            </a:r>
            <a:r>
              <a:rPr sz="2000" b="0" i="0" dirty="0">
                <a:solidFill>
                  <a:srgbClr val="CFDDE8"/>
                </a:solidFill>
                <a:latin typeface="Calibri"/>
              </a:rPr>
              <a:t> y </a:t>
            </a:r>
            <a:r>
              <a:rPr sz="2000" b="0" i="0" dirty="0" err="1">
                <a:solidFill>
                  <a:srgbClr val="CFDDE8"/>
                </a:solidFill>
                <a:latin typeface="Calibri"/>
              </a:rPr>
              <a:t>permanencia</a:t>
            </a:r>
            <a:r>
              <a:rPr sz="2000" b="0" i="0" dirty="0">
                <a:solidFill>
                  <a:srgbClr val="CFDDE8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CFDDE8"/>
                </a:solidFill>
                <a:latin typeface="Calibri"/>
              </a:rPr>
              <a:t>en</a:t>
            </a:r>
            <a:r>
              <a:rPr sz="2000" b="0" i="0" dirty="0">
                <a:solidFill>
                  <a:srgbClr val="CFDDE8"/>
                </a:solidFill>
                <a:latin typeface="Calibri"/>
              </a:rPr>
              <a:t> la </a:t>
            </a:r>
            <a:r>
              <a:rPr sz="2000" b="0" i="0" dirty="0" err="1">
                <a:solidFill>
                  <a:srgbClr val="CFDDE8"/>
                </a:solidFill>
                <a:latin typeface="Calibri"/>
              </a:rPr>
              <a:t>educación</a:t>
            </a:r>
            <a:r>
              <a:rPr sz="2000" b="0" i="0" dirty="0">
                <a:solidFill>
                  <a:srgbClr val="CFDDE8"/>
                </a:solidFill>
                <a:latin typeface="Calibri"/>
              </a:rPr>
              <a:t> superior de Antioquia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977639"/>
            <a:ext cx="10515600" cy="1737360"/>
          </a:xfrm>
          <a:prstGeom prst="roundRect">
            <a:avLst>
              <a:gd name="adj" fmla="val 4500"/>
            </a:avLst>
          </a:prstGeom>
          <a:solidFill>
            <a:srgbClr val="1650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2960" y="4186122"/>
            <a:ext cx="82296" cy="1320393"/>
          </a:xfrm>
          <a:prstGeom prst="roundRect">
            <a:avLst/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4160520"/>
            <a:ext cx="9966960" cy="13336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 dirty="0">
                <a:solidFill>
                  <a:srgbClr val="E09F2C"/>
                </a:solidFill>
                <a:latin typeface="Calibri"/>
              </a:rPr>
              <a:t>Nivel:  </a:t>
            </a:r>
            <a:r>
              <a:rPr sz="1400" b="0" i="0" dirty="0" err="1">
                <a:solidFill>
                  <a:srgbClr val="FFFFFF"/>
                </a:solidFill>
                <a:latin typeface="Calibri"/>
              </a:rPr>
              <a:t>Intermedio</a:t>
            </a:r>
            <a:endParaRPr sz="1400" b="0" i="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500"/>
              </a:spcAft>
            </a:pPr>
            <a:r>
              <a:rPr sz="1400" b="1" i="0" dirty="0">
                <a:solidFill>
                  <a:srgbClr val="E09F2C"/>
                </a:solidFill>
                <a:latin typeface="Calibri"/>
              </a:rPr>
              <a:t>ID del </a:t>
            </a:r>
            <a:r>
              <a:rPr sz="1400" b="1" i="0" dirty="0" err="1">
                <a:solidFill>
                  <a:srgbClr val="E09F2C"/>
                </a:solidFill>
                <a:latin typeface="Calibri"/>
              </a:rPr>
              <a:t>equipo</a:t>
            </a:r>
            <a:r>
              <a:rPr sz="1400" b="1" i="0" dirty="0">
                <a:solidFill>
                  <a:srgbClr val="E09F2C"/>
                </a:solidFill>
                <a:latin typeface="Calibri"/>
              </a:rPr>
              <a:t>:  </a:t>
            </a:r>
            <a:r>
              <a:rPr lang="es-CO" sz="1400" dirty="0">
                <a:solidFill>
                  <a:srgbClr val="FFFFFF"/>
                </a:solidFill>
                <a:latin typeface="Calibri"/>
              </a:rPr>
              <a:t>140</a:t>
            </a:r>
            <a:endParaRPr sz="1400" b="0" i="0" dirty="0">
              <a:solidFill>
                <a:srgbClr val="FFFFFF"/>
              </a:solidFill>
              <a:latin typeface="Calibri"/>
            </a:endParaRPr>
          </a:p>
          <a:p>
            <a:pPr>
              <a:spcAft>
                <a:spcPts val="500"/>
              </a:spcAft>
            </a:pPr>
            <a:r>
              <a:rPr sz="1400" b="1" i="0" dirty="0" err="1">
                <a:solidFill>
                  <a:srgbClr val="E09F2C"/>
                </a:solidFill>
                <a:latin typeface="Calibri"/>
              </a:rPr>
              <a:t>Integrantes</a:t>
            </a:r>
            <a:r>
              <a:rPr sz="1400" b="1" i="0" dirty="0">
                <a:solidFill>
                  <a:srgbClr val="E09F2C"/>
                </a:solidFill>
                <a:latin typeface="Calibri"/>
              </a:rPr>
              <a:t>:  </a:t>
            </a:r>
            <a:r>
              <a:rPr lang="es-CO" sz="1400" b="0" i="0" dirty="0">
                <a:solidFill>
                  <a:srgbClr val="FFFFFF"/>
                </a:solidFill>
                <a:latin typeface="Calibri"/>
              </a:rPr>
              <a:t>Alexander Tapia 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· </a:t>
            </a:r>
            <a:r>
              <a:rPr lang="es-CO" sz="1400" b="0" i="0" dirty="0">
                <a:solidFill>
                  <a:srgbClr val="FFFFFF"/>
                </a:solidFill>
                <a:latin typeface="Calibri"/>
              </a:rPr>
              <a:t>Estefanía Garcés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 · </a:t>
            </a:r>
            <a:r>
              <a:rPr lang="es-CO" sz="1400" dirty="0">
                <a:solidFill>
                  <a:srgbClr val="FFFFFF"/>
                </a:solidFill>
              </a:rPr>
              <a:t>Francisco Borrero · Juan Pablo Gómez</a:t>
            </a:r>
            <a:endParaRPr sz="1400" b="0" i="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500"/>
              </a:spcAft>
            </a:pPr>
            <a:r>
              <a:rPr sz="1400" b="1" i="0" dirty="0" err="1">
                <a:solidFill>
                  <a:srgbClr val="E09F2C"/>
                </a:solidFill>
                <a:latin typeface="Calibri"/>
              </a:rPr>
              <a:t>Institución</a:t>
            </a:r>
            <a:r>
              <a:rPr sz="1400" b="1" i="0" dirty="0">
                <a:solidFill>
                  <a:srgbClr val="E09F2C"/>
                </a:solidFill>
                <a:latin typeface="Calibri"/>
              </a:rPr>
              <a:t>:  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Universidad</a:t>
            </a:r>
            <a:r>
              <a:rPr lang="es-CO" sz="1400" b="0" i="0" dirty="0">
                <a:solidFill>
                  <a:srgbClr val="FFFFFF"/>
                </a:solidFill>
                <a:latin typeface="Calibri"/>
              </a:rPr>
              <a:t> de Antioquia</a:t>
            </a:r>
            <a:endParaRPr sz="1400" b="0" i="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500"/>
              </a:spcAft>
            </a:pPr>
            <a:r>
              <a:rPr sz="1400" b="1" i="0" dirty="0" err="1">
                <a:solidFill>
                  <a:srgbClr val="E09F2C"/>
                </a:solidFill>
                <a:latin typeface="Calibri"/>
              </a:rPr>
              <a:t>Fecha</a:t>
            </a:r>
            <a:r>
              <a:rPr sz="1400" b="1" i="0" dirty="0">
                <a:solidFill>
                  <a:srgbClr val="E09F2C"/>
                </a:solidFill>
                <a:latin typeface="Calibri"/>
              </a:rPr>
              <a:t> de </a:t>
            </a:r>
            <a:r>
              <a:rPr sz="1400" b="1" i="0" dirty="0" err="1">
                <a:solidFill>
                  <a:srgbClr val="E09F2C"/>
                </a:solidFill>
                <a:latin typeface="Calibri"/>
              </a:rPr>
              <a:t>sustentación</a:t>
            </a:r>
            <a:r>
              <a:rPr sz="1400" b="1" i="0" dirty="0">
                <a:solidFill>
                  <a:srgbClr val="E09F2C"/>
                </a:solidFill>
                <a:latin typeface="Calibri"/>
              </a:rPr>
              <a:t>:  </a:t>
            </a:r>
            <a:r>
              <a:rPr lang="es-CO" sz="1400" dirty="0">
                <a:solidFill>
                  <a:srgbClr val="FFFFFF"/>
                </a:solidFill>
                <a:latin typeface="Calibri"/>
              </a:rPr>
              <a:t>22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/</a:t>
            </a:r>
            <a:r>
              <a:rPr lang="es-CO" sz="1400" dirty="0">
                <a:solidFill>
                  <a:srgbClr val="FFFFFF"/>
                </a:solidFill>
                <a:latin typeface="Calibri"/>
              </a:rPr>
              <a:t>07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6126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9FB4C4"/>
                </a:solidFill>
                <a:latin typeface="Calibri"/>
              </a:rPr>
              <a:t>Datos abiertos + IA + impacto público  ·  Repositorio y app desplegable incluidos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09F2C"/>
                </a:solidFill>
                <a:latin typeface="Calibri"/>
              </a:rPr>
              <a:t>NECESIDAD PÚBLICA Y TERRITORIAL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Problema y objetivo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274320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00" b="1" i="0">
                <a:solidFill>
                  <a:srgbClr val="E09F2C"/>
                </a:solidFill>
                <a:latin typeface="Calibri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5C6B7A"/>
                </a:solidFill>
                <a:latin typeface="Calibri"/>
              </a:rPr>
              <a:t>Concurso Datos al Ecosistema 2026 — IA para Colombia · Nivel Intermedio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6547104"/>
            <a:ext cx="29077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5C6B7A"/>
                </a:solidFill>
                <a:latin typeface="Calibri"/>
              </a:rPr>
              <a:t>Fuente: datos.gov.co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71600"/>
            <a:ext cx="5532120" cy="356616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2920" y="1799539"/>
            <a:ext cx="82296" cy="2710281"/>
          </a:xfrm>
          <a:prstGeom prst="roundRect">
            <a:avLst/>
          </a:prstGeom>
          <a:solidFill>
            <a:srgbClr val="147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155448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B3C5D"/>
                </a:solidFill>
                <a:latin typeface="Calibri"/>
              </a:rPr>
              <a:t>El problema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057400"/>
            <a:ext cx="502920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222B33"/>
                </a:solidFill>
                <a:latin typeface="Calibri"/>
              </a:rPr>
              <a:t>En Antioquia el acceso y la permanencia en educación superior son muy desiguales entre municipios urbanos y rurales.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222B33"/>
                </a:solidFill>
                <a:latin typeface="Calibri"/>
              </a:rPr>
              <a:t>No hay una focalización basada en datos que conecte el territorio (de dónde viene el estudiante) con el aula (cómo le va).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222B33"/>
                </a:solidFill>
                <a:latin typeface="Calibri"/>
              </a:rPr>
              <a:t>El acompañamiento institucional (Semestre Cero, Soñares, PIES) tiene capacidad limitada y necesita priorizar a quién atiende.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371600"/>
            <a:ext cx="5513832" cy="356616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172200" y="1799539"/>
            <a:ext cx="82296" cy="2710281"/>
          </a:xfrm>
          <a:prstGeom prst="roundRect">
            <a:avLst/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155448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B3C5D"/>
                </a:solidFill>
                <a:latin typeface="Calibri"/>
              </a:rPr>
              <a:t>El objetivo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057400"/>
            <a:ext cx="502920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222B33"/>
                </a:solidFill>
                <a:latin typeface="Calibri"/>
              </a:rPr>
              <a:t>Identificar los municipios con mayor brecha de acceso (módulo territorial no supervisado).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222B33"/>
                </a:solidFill>
                <a:latin typeface="Calibri"/>
              </a:rPr>
              <a:t>Detectar tempranamente a los estudiantes con mayor riesgo académico (módulo supervisado).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222B33"/>
                </a:solidFill>
                <a:latin typeface="Calibri"/>
              </a:rPr>
              <a:t>Entregar insumos accionables para priorizar el acompañamiento, con datos abiertos + IA de forma reproducible.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166360"/>
            <a:ext cx="11183112" cy="1143000"/>
          </a:xfrm>
          <a:prstGeom prst="roundRect">
            <a:avLst>
              <a:gd name="adj" fmla="val 45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5166360"/>
            <a:ext cx="1051560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Problema real  +  datos abiertos  +  IA  +  impacto público</a:t>
            </a:r>
          </a:p>
          <a:p>
            <a:pPr algn="l">
              <a:spcBef>
                <a:spcPts val="400"/>
              </a:spcBef>
            </a:pPr>
            <a:r>
              <a:rPr sz="1300" b="0" i="1">
                <a:solidFill>
                  <a:srgbClr val="CFDDE8"/>
                </a:solidFill>
                <a:latin typeface="Calibri"/>
              </a:rPr>
              <a:t>una sola herramienta reproducible que va del territorio al aula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09F2C"/>
                </a:solidFill>
                <a:latin typeface="Calibri"/>
              </a:rPr>
              <a:t>FUENTES, VARIABLES Y TRATAMIENTO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Datos abiertos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274320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00" b="1" i="0">
                <a:solidFill>
                  <a:srgbClr val="E09F2C"/>
                </a:solidFill>
                <a:latin typeface="Calibri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5C6B7A"/>
                </a:solidFill>
                <a:latin typeface="Calibri"/>
              </a:rPr>
              <a:t>Concurso Datos al Ecosistema 2026 — IA para Colombia · Nivel Intermedio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6547104"/>
            <a:ext cx="29077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5C6B7A"/>
                </a:solidFill>
                <a:latin typeface="Calibri"/>
              </a:rPr>
              <a:t>Fuente: datos.gov.co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371600"/>
          <a:ext cx="7406639" cy="3383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77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Conjunto</a:t>
                      </a:r>
                    </a:p>
                  </a:txBody>
                  <a:tcPr marR="54864" marT="27432" marB="27432" anchor="ctr"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Fuente</a:t>
                      </a:r>
                    </a:p>
                  </a:txBody>
                  <a:tcPr marR="54864" marT="27432" marB="27432" anchor="ctr"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Registros</a:t>
                      </a:r>
                    </a:p>
                  </a:txBody>
                  <a:tcPr marR="54864" marT="27432" marB="27432" anchor="ctr">
                    <a:solidFill>
                      <a:srgbClr val="0B3C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22B33"/>
                          </a:solidFill>
                          <a:latin typeface="Calibri"/>
                        </a:rPr>
                        <a:t>Matrícula UdeA — sedes regionales 2026-1</a:t>
                      </a:r>
                    </a:p>
                  </a:txBody>
                  <a:tcPr marR="54864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22B33"/>
                          </a:solidFill>
                          <a:latin typeface="Calibri"/>
                        </a:rPr>
                        <a:t>Universidad de Antioquia</a:t>
                      </a:r>
                    </a:p>
                  </a:txBody>
                  <a:tcPr marR="54864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222B33"/>
                          </a:solidFill>
                          <a:latin typeface="Calibri"/>
                        </a:rPr>
                        <a:t>8.157</a:t>
                      </a:r>
                    </a:p>
                  </a:txBody>
                  <a:tcPr marR="54864" marT="27432" marB="27432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22B33"/>
                          </a:solidFill>
                          <a:latin typeface="Calibri"/>
                        </a:rPr>
                        <a:t>Beneficiarios de acompañamiento</a:t>
                      </a:r>
                    </a:p>
                  </a:txBody>
                  <a:tcPr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22B33"/>
                          </a:solidFill>
                          <a:latin typeface="Calibri"/>
                        </a:rPr>
                        <a:t>datos.gov.co · Gob. Antioquia</a:t>
                      </a:r>
                    </a:p>
                  </a:txBody>
                  <a:tcPr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222B33"/>
                          </a:solidFill>
                          <a:latin typeface="Calibri"/>
                        </a:rPr>
                        <a:t>13.778</a:t>
                      </a:r>
                    </a:p>
                  </a:txBody>
                  <a:tcPr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22B33"/>
                          </a:solidFill>
                          <a:latin typeface="Calibri"/>
                        </a:rPr>
                        <a:t>Población censada 2018</a:t>
                      </a:r>
                    </a:p>
                  </a:txBody>
                  <a:tcPr marR="54864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22B33"/>
                          </a:solidFill>
                          <a:latin typeface="Calibri"/>
                        </a:rPr>
                        <a:t>datos.gov.co · DANE</a:t>
                      </a:r>
                    </a:p>
                  </a:txBody>
                  <a:tcPr marR="54864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222B33"/>
                          </a:solidFill>
                          <a:latin typeface="Calibri"/>
                        </a:rPr>
                        <a:t>12.825</a:t>
                      </a:r>
                    </a:p>
                  </a:txBody>
                  <a:tcPr marR="54864" marT="27432" marB="27432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22B33"/>
                          </a:solidFill>
                          <a:latin typeface="Calibri"/>
                        </a:rPr>
                        <a:t>Saber 11 — ICFES (2018+)</a:t>
                      </a:r>
                    </a:p>
                  </a:txBody>
                  <a:tcPr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22B33"/>
                          </a:solidFill>
                          <a:latin typeface="Calibri"/>
                        </a:rPr>
                        <a:t>datos.gov.co · ICFES (API)</a:t>
                      </a:r>
                    </a:p>
                  </a:txBody>
                  <a:tcPr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222B33"/>
                          </a:solidFill>
                          <a:latin typeface="Calibri"/>
                        </a:rPr>
                        <a:t>297.962</a:t>
                      </a:r>
                    </a:p>
                  </a:txBody>
                  <a:tcPr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22B33"/>
                          </a:solidFill>
                          <a:latin typeface="Calibri"/>
                        </a:rPr>
                        <a:t>DIVIPOLA — municipios</a:t>
                      </a:r>
                    </a:p>
                  </a:txBody>
                  <a:tcPr marR="54864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22B33"/>
                          </a:solidFill>
                          <a:latin typeface="Calibri"/>
                        </a:rPr>
                        <a:t>datos.gov.co · DANE (API)</a:t>
                      </a:r>
                    </a:p>
                  </a:txBody>
                  <a:tcPr marR="54864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 i="0">
                          <a:solidFill>
                            <a:srgbClr val="222B33"/>
                          </a:solidFill>
                          <a:latin typeface="Calibri"/>
                        </a:rPr>
                        <a:t>1.122</a:t>
                      </a:r>
                    </a:p>
                  </a:txBody>
                  <a:tcPr marR="54864" marT="27432" marB="27432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8092440" y="1371600"/>
            <a:ext cx="3593592" cy="338328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92440" y="1777593"/>
            <a:ext cx="82296" cy="2571292"/>
          </a:xfrm>
          <a:prstGeom prst="roundRect">
            <a:avLst/>
          </a:prstGeom>
          <a:solidFill>
            <a:srgbClr val="147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153619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B3C5D"/>
                </a:solidFill>
                <a:latin typeface="Calibri"/>
              </a:rPr>
              <a:t>Integración y calidad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011680"/>
            <a:ext cx="306324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222B33"/>
                </a:solidFill>
                <a:latin typeface="Calibri"/>
              </a:rPr>
              <a:t>Llave común: código DANE de municipio (5 dígitos) — 125 municipios integrados.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222B33"/>
                </a:solidFill>
                <a:latin typeface="Calibri"/>
              </a:rPr>
              <a:t>Cruce del 100 % (auditoría difusa de nombres con rapidfuzz).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222B33"/>
                </a:solidFill>
                <a:latin typeface="Calibri"/>
              </a:rPr>
              <a:t>Limpieza: mojibake (ftfy), fechas mixtas y API Socrata paginada.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222B33"/>
                </a:solidFill>
                <a:latin typeface="Calibri"/>
              </a:rPr>
              <a:t>Matrices analíticas: 125×26 (municipal) y 8.157×23 (estudiantes).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029200"/>
            <a:ext cx="3566160" cy="1234440"/>
          </a:xfrm>
          <a:prstGeom prst="roundRect">
            <a:avLst>
              <a:gd name="adj" fmla="val 45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5157216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E09F2C"/>
                </a:solidFill>
                <a:latin typeface="Calibri"/>
              </a:rPr>
              <a:t>4 /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5705856"/>
            <a:ext cx="3346704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conjuntos provienen de datos.gov.co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5968" y="5029200"/>
            <a:ext cx="3566160" cy="1234440"/>
          </a:xfrm>
          <a:prstGeom prst="roundRect">
            <a:avLst>
              <a:gd name="adj" fmla="val 4500"/>
            </a:avLst>
          </a:prstGeom>
          <a:solidFill>
            <a:srgbClr val="147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15968" y="5157216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~334 mil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25696" y="5705856"/>
            <a:ext cx="3346704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registros integrados de 5 fuentes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5029200"/>
            <a:ext cx="3547872" cy="1234440"/>
          </a:xfrm>
          <a:prstGeom prst="roundRect">
            <a:avLst>
              <a:gd name="adj" fmla="val 45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38160" y="5157216"/>
            <a:ext cx="354787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E09F2C"/>
                </a:solidFill>
                <a:latin typeface="Calibri"/>
              </a:rPr>
              <a:t>100 %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5705856"/>
            <a:ext cx="3328416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de cruce por código DANE de municipio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09F2C"/>
                </a:solidFill>
                <a:latin typeface="Calibri"/>
              </a:rPr>
              <a:t>FUNCIONAMIENTO Y COMPONENTE TÉCNICO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Solución e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274320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00" b="1" i="0">
                <a:solidFill>
                  <a:srgbClr val="E09F2C"/>
                </a:solidFill>
                <a:latin typeface="Calibri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5C6B7A"/>
                </a:solidFill>
                <a:latin typeface="Calibri"/>
              </a:rPr>
              <a:t>Concurso Datos al Ecosistema 2026 — IA para Colombia · Nivel Intermedio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6547104"/>
            <a:ext cx="29077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5C6B7A"/>
                </a:solidFill>
                <a:latin typeface="Calibri"/>
              </a:rPr>
              <a:t>Fuente: datos.gov.co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71600"/>
            <a:ext cx="2468880" cy="566928"/>
          </a:xfrm>
          <a:prstGeom prst="roundRect">
            <a:avLst>
              <a:gd name="adj" fmla="val 45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547342"/>
            <a:ext cx="24688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s-CO" sz="1400" b="1" i="0" dirty="0">
                <a:solidFill>
                  <a:srgbClr val="FFFFFF"/>
                </a:solidFill>
                <a:latin typeface="Calibri"/>
              </a:rPr>
              <a:t>adquisición</a:t>
            </a:r>
            <a:endParaRPr sz="1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71800" y="1371600"/>
            <a:ext cx="38404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E09F2C"/>
                </a:solidFill>
                <a:latin typeface="Calibri"/>
              </a:rPr>
              <a:t>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5848" y="1371600"/>
            <a:ext cx="2468880" cy="566928"/>
          </a:xfrm>
          <a:prstGeom prst="roundRect">
            <a:avLst>
              <a:gd name="adj" fmla="val 45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55848" y="1547342"/>
            <a:ext cx="24688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s-CO" sz="1400" b="1" i="0" dirty="0">
                <a:solidFill>
                  <a:srgbClr val="FFFFFF"/>
                </a:solidFill>
                <a:latin typeface="Calibri"/>
              </a:rPr>
              <a:t>limpieza</a:t>
            </a:r>
            <a:endParaRPr sz="1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824728" y="1371600"/>
            <a:ext cx="38404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E09F2C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1371600"/>
            <a:ext cx="2468880" cy="566928"/>
          </a:xfrm>
          <a:prstGeom prst="roundRect">
            <a:avLst>
              <a:gd name="adj" fmla="val 45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08776" y="1547342"/>
            <a:ext cx="24688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s-CO" sz="1400" b="1" i="0" dirty="0">
                <a:solidFill>
                  <a:srgbClr val="FFFFFF"/>
                </a:solidFill>
                <a:latin typeface="Calibri"/>
              </a:rPr>
              <a:t>integración</a:t>
            </a:r>
            <a:endParaRPr sz="1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677656" y="1371600"/>
            <a:ext cx="38404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E09F2C"/>
                </a:solidFill>
                <a:latin typeface="Calibri"/>
              </a:rPr>
              <a:t>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61704" y="1371600"/>
            <a:ext cx="2468880" cy="566928"/>
          </a:xfrm>
          <a:prstGeom prst="roundRect">
            <a:avLst>
              <a:gd name="adj" fmla="val 4500"/>
            </a:avLst>
          </a:prstGeom>
          <a:solidFill>
            <a:srgbClr val="147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61704" y="1547342"/>
            <a:ext cx="24688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s-CO" sz="1400" b="1" i="0" dirty="0">
                <a:solidFill>
                  <a:srgbClr val="FFFFFF"/>
                </a:solidFill>
                <a:latin typeface="Calibri"/>
              </a:rPr>
              <a:t>módulos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A / 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2240280"/>
            <a:ext cx="5532120" cy="324612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02920" y="2629814"/>
            <a:ext cx="82296" cy="2467051"/>
          </a:xfrm>
          <a:prstGeom prst="roundRect">
            <a:avLst/>
          </a:prstGeom>
          <a:solidFill>
            <a:srgbClr val="147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2395728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B3C5D"/>
                </a:solidFill>
                <a:latin typeface="Calibri"/>
              </a:rPr>
              <a:t>Módulo A · Tipologías territoriales</a:t>
            </a:r>
          </a:p>
          <a:p>
            <a:pPr algn="l"/>
            <a:r>
              <a:rPr sz="1100" b="1" i="0">
                <a:solidFill>
                  <a:srgbClr val="147D88"/>
                </a:solidFill>
                <a:latin typeface="Calibri"/>
              </a:rPr>
              <a:t>Aprendizaje NO supervisado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200400"/>
            <a:ext cx="50292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22B33"/>
                </a:solidFill>
                <a:latin typeface="Calibri"/>
              </a:rPr>
              <a:t>KMeans sobre 7 variables municipales (matrícula, Saber 11, ruralidad, cobertura, brechas de género).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22B33"/>
                </a:solidFill>
                <a:latin typeface="Calibri"/>
              </a:rPr>
              <a:t>Índice de brecha compuesto 0–100 y mapa interactivo.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22B33"/>
                </a:solidFill>
                <a:latin typeface="Calibri"/>
              </a:rPr>
              <a:t>Validación: silhouette (k≥3) y estabilidad ARI multi-semilla.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2240280"/>
            <a:ext cx="5513832" cy="324612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172200" y="2629814"/>
            <a:ext cx="82296" cy="2467051"/>
          </a:xfrm>
          <a:prstGeom prst="roundRect">
            <a:avLst/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2395728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B3C5D"/>
                </a:solidFill>
                <a:latin typeface="Calibri"/>
              </a:rPr>
              <a:t>Módulo B · Riesgo académico</a:t>
            </a:r>
          </a:p>
          <a:p>
            <a:pPr algn="l"/>
            <a:r>
              <a:rPr sz="1100" b="1" i="0">
                <a:solidFill>
                  <a:srgbClr val="E09F2C"/>
                </a:solidFill>
                <a:latin typeface="Calibri"/>
              </a:rPr>
              <a:t>Aprendizaje SUPERVISADO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200400"/>
            <a:ext cx="50292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 i="0" dirty="0">
                <a:solidFill>
                  <a:srgbClr val="E09F2C"/>
                </a:solidFill>
                <a:latin typeface="Calibri"/>
              </a:rPr>
              <a:t>•  </a:t>
            </a:r>
            <a:r>
              <a:rPr sz="1300" b="0" i="0" dirty="0">
                <a:solidFill>
                  <a:srgbClr val="222B33"/>
                </a:solidFill>
                <a:latin typeface="Calibri"/>
              </a:rPr>
              <a:t>15 variables sin </a:t>
            </a:r>
            <a:r>
              <a:rPr sz="1300" b="0" i="0" dirty="0" err="1">
                <a:solidFill>
                  <a:srgbClr val="222B33"/>
                </a:solidFill>
                <a:latin typeface="Calibri"/>
              </a:rPr>
              <a:t>fuga</a:t>
            </a:r>
            <a:r>
              <a:rPr sz="1300" b="0" i="0" dirty="0">
                <a:solidFill>
                  <a:srgbClr val="222B33"/>
                </a:solidFill>
                <a:latin typeface="Calibri"/>
              </a:rPr>
              <a:t> de </a:t>
            </a:r>
            <a:r>
              <a:rPr sz="1300" b="0" i="0" dirty="0" err="1">
                <a:solidFill>
                  <a:srgbClr val="222B33"/>
                </a:solidFill>
                <a:latin typeface="Calibri"/>
              </a:rPr>
              <a:t>información</a:t>
            </a:r>
            <a:r>
              <a:rPr sz="1300" b="0" i="0" dirty="0">
                <a:solidFill>
                  <a:srgbClr val="222B33"/>
                </a:solidFill>
                <a:latin typeface="Calibri"/>
              </a:rPr>
              <a:t>; 3 </a:t>
            </a:r>
            <a:r>
              <a:rPr sz="1300" b="0" i="0" dirty="0" err="1">
                <a:solidFill>
                  <a:srgbClr val="222B33"/>
                </a:solidFill>
                <a:latin typeface="Calibri"/>
              </a:rPr>
              <a:t>modelos</a:t>
            </a:r>
            <a:r>
              <a:rPr sz="1300" b="0" i="0" dirty="0">
                <a:solidFill>
                  <a:srgbClr val="222B33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222B33"/>
                </a:solidFill>
                <a:latin typeface="Calibri"/>
              </a:rPr>
              <a:t>comparados</a:t>
            </a:r>
            <a:r>
              <a:rPr sz="1300" b="0" i="0" dirty="0">
                <a:solidFill>
                  <a:srgbClr val="222B33"/>
                </a:solidFill>
                <a:latin typeface="Calibri"/>
              </a:rPr>
              <a:t> (Reg. </a:t>
            </a:r>
            <a:r>
              <a:rPr sz="1300" b="0" i="0" dirty="0" err="1">
                <a:solidFill>
                  <a:srgbClr val="222B33"/>
                </a:solidFill>
                <a:latin typeface="Calibri"/>
              </a:rPr>
              <a:t>logística</a:t>
            </a:r>
            <a:r>
              <a:rPr sz="1300" b="0" i="0" dirty="0">
                <a:solidFill>
                  <a:srgbClr val="222B33"/>
                </a:solidFill>
                <a:latin typeface="Calibri"/>
              </a:rPr>
              <a:t>, Random Forest, </a:t>
            </a:r>
            <a:r>
              <a:rPr sz="1300" b="0" i="0" dirty="0" err="1">
                <a:solidFill>
                  <a:srgbClr val="222B33"/>
                </a:solidFill>
                <a:latin typeface="Calibri"/>
              </a:rPr>
              <a:t>LightGBM</a:t>
            </a:r>
            <a:r>
              <a:rPr sz="1300" b="0" i="0" dirty="0">
                <a:solidFill>
                  <a:srgbClr val="222B33"/>
                </a:solidFill>
                <a:latin typeface="Calibri"/>
              </a:rPr>
              <a:t>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 i="0" dirty="0">
                <a:solidFill>
                  <a:srgbClr val="E09F2C"/>
                </a:solidFill>
                <a:latin typeface="Calibri"/>
              </a:rPr>
              <a:t>•  </a:t>
            </a:r>
            <a:r>
              <a:rPr sz="1300" b="0" i="0" dirty="0" err="1">
                <a:solidFill>
                  <a:srgbClr val="222B33"/>
                </a:solidFill>
                <a:latin typeface="Calibri"/>
              </a:rPr>
              <a:t>Validación</a:t>
            </a:r>
            <a:r>
              <a:rPr sz="1300" b="0" i="0" dirty="0">
                <a:solidFill>
                  <a:srgbClr val="222B33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222B33"/>
                </a:solidFill>
                <a:latin typeface="Calibri"/>
              </a:rPr>
              <a:t>cruzada</a:t>
            </a:r>
            <a:r>
              <a:rPr sz="1300" b="0" i="0" dirty="0">
                <a:solidFill>
                  <a:srgbClr val="222B33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222B33"/>
                </a:solidFill>
                <a:latin typeface="Calibri"/>
              </a:rPr>
              <a:t>estratificada</a:t>
            </a:r>
            <a:r>
              <a:rPr sz="1300" b="0" i="0" dirty="0">
                <a:solidFill>
                  <a:srgbClr val="222B33"/>
                </a:solidFill>
                <a:latin typeface="Calibri"/>
              </a:rPr>
              <a:t> (PR-AUC </a:t>
            </a:r>
            <a:r>
              <a:rPr sz="1300" b="0" i="0" dirty="0" err="1">
                <a:solidFill>
                  <a:srgbClr val="222B33"/>
                </a:solidFill>
                <a:latin typeface="Calibri"/>
              </a:rPr>
              <a:t>por</a:t>
            </a:r>
            <a:r>
              <a:rPr sz="1300" b="0" i="0" dirty="0">
                <a:solidFill>
                  <a:srgbClr val="222B33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222B33"/>
                </a:solidFill>
                <a:latin typeface="Calibri"/>
              </a:rPr>
              <a:t>desbalance</a:t>
            </a:r>
            <a:r>
              <a:rPr sz="1300" b="0" i="0" dirty="0">
                <a:solidFill>
                  <a:srgbClr val="222B33"/>
                </a:solidFill>
                <a:latin typeface="Calibri"/>
              </a:rPr>
              <a:t>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 i="0" dirty="0">
                <a:solidFill>
                  <a:srgbClr val="E09F2C"/>
                </a:solidFill>
                <a:latin typeface="Calibri"/>
              </a:rPr>
              <a:t>•  </a:t>
            </a:r>
            <a:r>
              <a:rPr sz="1300" b="0" i="0" dirty="0" err="1">
                <a:solidFill>
                  <a:srgbClr val="222B33"/>
                </a:solidFill>
                <a:latin typeface="Calibri"/>
              </a:rPr>
              <a:t>Interpretabilidad</a:t>
            </a:r>
            <a:r>
              <a:rPr sz="1300" b="0" i="0" dirty="0">
                <a:solidFill>
                  <a:srgbClr val="222B33"/>
                </a:solidFill>
                <a:latin typeface="Calibri"/>
              </a:rPr>
              <a:t> con SHAP y scoring </a:t>
            </a:r>
            <a:r>
              <a:rPr sz="1300" b="0" i="0" dirty="0" err="1">
                <a:solidFill>
                  <a:srgbClr val="222B33"/>
                </a:solidFill>
                <a:latin typeface="Calibri"/>
              </a:rPr>
              <a:t>por</a:t>
            </a:r>
            <a:r>
              <a:rPr sz="1300" b="0" i="0" dirty="0">
                <a:solidFill>
                  <a:srgbClr val="222B33"/>
                </a:solidFill>
                <a:latin typeface="Calibri"/>
              </a:rPr>
              <a:t> deciles de </a:t>
            </a:r>
            <a:r>
              <a:rPr sz="1300" b="0" i="0" dirty="0" err="1">
                <a:solidFill>
                  <a:srgbClr val="222B33"/>
                </a:solidFill>
                <a:latin typeface="Calibri"/>
              </a:rPr>
              <a:t>riesgo</a:t>
            </a:r>
            <a:r>
              <a:rPr sz="1300" b="0" i="0" dirty="0">
                <a:solidFill>
                  <a:srgbClr val="222B33"/>
                </a:solidFill>
                <a:latin typeface="Calibri"/>
              </a:rPr>
              <a:t>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669280"/>
            <a:ext cx="11183112" cy="658368"/>
          </a:xfrm>
          <a:prstGeom prst="roundRect">
            <a:avLst>
              <a:gd name="adj" fmla="val 45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5894589"/>
            <a:ext cx="10515600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dirty="0" err="1">
                <a:solidFill>
                  <a:srgbClr val="FFFFFF"/>
                </a:solidFill>
                <a:latin typeface="Calibri"/>
              </a:rPr>
              <a:t>Prototipo</a:t>
            </a:r>
            <a:r>
              <a:rPr sz="135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50" b="1" i="0" dirty="0" err="1">
                <a:solidFill>
                  <a:srgbClr val="FFFFFF"/>
                </a:solidFill>
                <a:latin typeface="Calibri"/>
              </a:rPr>
              <a:t>desplegable</a:t>
            </a:r>
            <a:r>
              <a:rPr sz="1350" b="1" i="0" dirty="0">
                <a:solidFill>
                  <a:srgbClr val="FFFFFF"/>
                </a:solidFill>
                <a:latin typeface="Calibri"/>
              </a:rPr>
              <a:t>: app </a:t>
            </a:r>
            <a:r>
              <a:rPr sz="1350" b="1" i="0" dirty="0" err="1">
                <a:solidFill>
                  <a:srgbClr val="FFFFFF"/>
                </a:solidFill>
                <a:latin typeface="Calibri"/>
              </a:rPr>
              <a:t>Streamlit</a:t>
            </a:r>
            <a:r>
              <a:rPr sz="135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50" b="1" i="0" dirty="0" err="1">
                <a:solidFill>
                  <a:srgbClr val="FFFFFF"/>
                </a:solidFill>
                <a:latin typeface="Calibri"/>
              </a:rPr>
              <a:t>dockerizada</a:t>
            </a:r>
            <a:r>
              <a:rPr sz="1350" b="1" i="0" dirty="0">
                <a:solidFill>
                  <a:srgbClr val="FFFFFF"/>
                </a:solidFill>
                <a:latin typeface="Calibri"/>
              </a:rPr>
              <a:t> — pipeline 100 % reproducible.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09F2C"/>
                </a:solidFill>
                <a:latin typeface="Calibri"/>
              </a:rPr>
              <a:t>DÓNDE ESTÁ LA MAYOR BRECHA DE ACCESO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Resultados · Módulo A (territorial)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274320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00" b="1" i="0">
                <a:solidFill>
                  <a:srgbClr val="E09F2C"/>
                </a:solidFill>
                <a:latin typeface="Calibri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5C6B7A"/>
                </a:solidFill>
                <a:latin typeface="Calibri"/>
              </a:rPr>
              <a:t>Concurso Datos al Ecosistema 2026 — IA para Colombia · Nivel Intermedio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6547104"/>
            <a:ext cx="29077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5C6B7A"/>
                </a:solidFill>
                <a:latin typeface="Calibri"/>
              </a:rPr>
              <a:t>Fuente: datos.gov.co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71600"/>
            <a:ext cx="2651760" cy="1188720"/>
          </a:xfrm>
          <a:prstGeom prst="roundRect">
            <a:avLst>
              <a:gd name="adj" fmla="val 45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499616"/>
            <a:ext cx="26517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E09F2C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048256"/>
            <a:ext cx="243230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tipologías de municipios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371600"/>
            <a:ext cx="2651760" cy="1188720"/>
          </a:xfrm>
          <a:prstGeom prst="roundRect">
            <a:avLst>
              <a:gd name="adj" fmla="val 4500"/>
            </a:avLst>
          </a:prstGeom>
          <a:solidFill>
            <a:srgbClr val="147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91840" y="1499616"/>
            <a:ext cx="26517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0,94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2048256"/>
            <a:ext cx="243230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estabilidad ARI (silhouette 0,32)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743200"/>
            <a:ext cx="5440680" cy="306324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02920" y="3110788"/>
            <a:ext cx="82296" cy="2328062"/>
          </a:xfrm>
          <a:prstGeom prst="roundRect">
            <a:avLst/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2907792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B3C5D"/>
                </a:solidFill>
                <a:latin typeface="Calibri"/>
              </a:rPr>
              <a:t>Ranking de brecha (índice 0–100)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383280"/>
            <a:ext cx="310896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E09F2C"/>
                </a:solidFill>
                <a:latin typeface="Calibri"/>
              </a:rPr>
              <a:t>1.  </a:t>
            </a:r>
            <a:r>
              <a:rPr sz="1400" b="1" i="0">
                <a:solidFill>
                  <a:srgbClr val="222B33"/>
                </a:solidFill>
                <a:latin typeface="Calibri"/>
              </a:rPr>
              <a:t>Betulia</a:t>
            </a:r>
            <a:r>
              <a:rPr sz="1400" b="1" i="0">
                <a:solidFill>
                  <a:srgbClr val="147D88"/>
                </a:solidFill>
                <a:latin typeface="Calibri"/>
              </a:rPr>
              <a:t>   86,1</a:t>
            </a:r>
          </a:p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E09F2C"/>
                </a:solidFill>
                <a:latin typeface="Calibri"/>
              </a:rPr>
              <a:t>2.  </a:t>
            </a:r>
            <a:r>
              <a:rPr sz="1400" b="1" i="0">
                <a:solidFill>
                  <a:srgbClr val="222B33"/>
                </a:solidFill>
                <a:latin typeface="Calibri"/>
              </a:rPr>
              <a:t>Murindo</a:t>
            </a:r>
            <a:r>
              <a:rPr sz="1400" b="1" i="0">
                <a:solidFill>
                  <a:srgbClr val="147D88"/>
                </a:solidFill>
                <a:latin typeface="Calibri"/>
              </a:rPr>
              <a:t>   85,2</a:t>
            </a:r>
          </a:p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E09F2C"/>
                </a:solidFill>
                <a:latin typeface="Calibri"/>
              </a:rPr>
              <a:t>3.  </a:t>
            </a:r>
            <a:r>
              <a:rPr sz="1400" b="1" i="0">
                <a:solidFill>
                  <a:srgbClr val="222B33"/>
                </a:solidFill>
                <a:latin typeface="Calibri"/>
              </a:rPr>
              <a:t>Ituango</a:t>
            </a:r>
            <a:r>
              <a:rPr sz="1400" b="1" i="0">
                <a:solidFill>
                  <a:srgbClr val="147D88"/>
                </a:solidFill>
                <a:latin typeface="Calibri"/>
              </a:rPr>
              <a:t>   84,4</a:t>
            </a:r>
          </a:p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E09F2C"/>
                </a:solidFill>
                <a:latin typeface="Calibri"/>
              </a:rPr>
              <a:t>4.  </a:t>
            </a:r>
            <a:r>
              <a:rPr sz="1400" b="1" i="0">
                <a:solidFill>
                  <a:srgbClr val="222B33"/>
                </a:solidFill>
                <a:latin typeface="Calibri"/>
              </a:rPr>
              <a:t>Angostura</a:t>
            </a:r>
            <a:r>
              <a:rPr sz="1400" b="1" i="0">
                <a:solidFill>
                  <a:srgbClr val="147D88"/>
                </a:solidFill>
                <a:latin typeface="Calibri"/>
              </a:rPr>
              <a:t>   84,3</a:t>
            </a:r>
          </a:p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E09F2C"/>
                </a:solidFill>
                <a:latin typeface="Calibri"/>
              </a:rPr>
              <a:t>5.  </a:t>
            </a:r>
            <a:r>
              <a:rPr sz="1400" b="1" i="0">
                <a:solidFill>
                  <a:srgbClr val="222B33"/>
                </a:solidFill>
                <a:latin typeface="Calibri"/>
              </a:rPr>
              <a:t>Caicedo</a:t>
            </a:r>
            <a:r>
              <a:rPr sz="1400" b="1" i="0">
                <a:solidFill>
                  <a:srgbClr val="147D88"/>
                </a:solidFill>
                <a:latin typeface="Calibri"/>
              </a:rPr>
              <a:t>   83,8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39" y="3401568"/>
            <a:ext cx="1874519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 b="1" i="0" dirty="0">
                <a:solidFill>
                  <a:srgbClr val="E09F2C"/>
                </a:solidFill>
                <a:latin typeface="Calibri"/>
              </a:rPr>
              <a:t>•  </a:t>
            </a:r>
            <a:r>
              <a:rPr sz="1150" b="0" i="0" dirty="0">
                <a:solidFill>
                  <a:srgbClr val="222B33"/>
                </a:solidFill>
                <a:latin typeface="Calibri"/>
              </a:rPr>
              <a:t>Alta </a:t>
            </a:r>
            <a:r>
              <a:rPr sz="1150" b="0" i="0" dirty="0" err="1">
                <a:solidFill>
                  <a:srgbClr val="222B33"/>
                </a:solidFill>
                <a:latin typeface="Calibri"/>
              </a:rPr>
              <a:t>ruralidad</a:t>
            </a:r>
            <a:r>
              <a:rPr sz="1150" b="0" i="0" dirty="0">
                <a:solidFill>
                  <a:srgbClr val="222B33"/>
                </a:solidFill>
                <a:latin typeface="Calibri"/>
              </a:rPr>
              <a:t> + bajo Saber 11 + </a:t>
            </a:r>
            <a:r>
              <a:rPr sz="1150" b="0" i="0" dirty="0" err="1">
                <a:solidFill>
                  <a:srgbClr val="222B33"/>
                </a:solidFill>
                <a:latin typeface="Calibri"/>
              </a:rPr>
              <a:t>baja</a:t>
            </a:r>
            <a:r>
              <a:rPr sz="1150" b="0" i="0" dirty="0">
                <a:solidFill>
                  <a:srgbClr val="222B33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222B33"/>
                </a:solidFill>
                <a:latin typeface="Calibri"/>
              </a:rPr>
              <a:t>matrícula</a:t>
            </a:r>
            <a:r>
              <a:rPr sz="1150" b="0" i="0" dirty="0">
                <a:solidFill>
                  <a:srgbClr val="222B33"/>
                </a:solidFill>
                <a:latin typeface="Calibri"/>
              </a:rPr>
              <a:t> + </a:t>
            </a:r>
            <a:r>
              <a:rPr sz="1150" b="0" i="0" dirty="0" err="1">
                <a:solidFill>
                  <a:srgbClr val="222B33"/>
                </a:solidFill>
                <a:latin typeface="Calibri"/>
              </a:rPr>
              <a:t>poca</a:t>
            </a:r>
            <a:r>
              <a:rPr sz="1150" b="0" i="0" dirty="0">
                <a:solidFill>
                  <a:srgbClr val="222B33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222B33"/>
                </a:solidFill>
                <a:latin typeface="Calibri"/>
              </a:rPr>
              <a:t>cobertura</a:t>
            </a:r>
            <a:r>
              <a:rPr sz="1150" b="0" i="0" dirty="0">
                <a:solidFill>
                  <a:srgbClr val="222B33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 b="1" i="0" dirty="0">
                <a:solidFill>
                  <a:srgbClr val="E09F2C"/>
                </a:solidFill>
                <a:latin typeface="Calibri"/>
              </a:rPr>
              <a:t>•  </a:t>
            </a:r>
            <a:r>
              <a:rPr sz="1150" b="0" i="0" dirty="0">
                <a:solidFill>
                  <a:srgbClr val="222B33"/>
                </a:solidFill>
                <a:latin typeface="Calibri"/>
              </a:rPr>
              <a:t>La </a:t>
            </a:r>
            <a:r>
              <a:rPr sz="1150" b="0" i="0" dirty="0" err="1">
                <a:solidFill>
                  <a:srgbClr val="222B33"/>
                </a:solidFill>
                <a:latin typeface="Calibri"/>
              </a:rPr>
              <a:t>sede</a:t>
            </a:r>
            <a:r>
              <a:rPr sz="1150" b="0" i="0" dirty="0">
                <a:solidFill>
                  <a:srgbClr val="222B33"/>
                </a:solidFill>
                <a:latin typeface="Calibri"/>
              </a:rPr>
              <a:t> regional </a:t>
            </a:r>
            <a:r>
              <a:rPr sz="1150" b="0" i="0" dirty="0" err="1">
                <a:solidFill>
                  <a:srgbClr val="222B33"/>
                </a:solidFill>
                <a:latin typeface="Calibri"/>
              </a:rPr>
              <a:t>UdeA</a:t>
            </a:r>
            <a:r>
              <a:rPr sz="1150" b="0" i="0" dirty="0">
                <a:solidFill>
                  <a:srgbClr val="222B33"/>
                </a:solidFill>
                <a:latin typeface="Calibri"/>
              </a:rPr>
              <a:t> reduce la </a:t>
            </a:r>
            <a:r>
              <a:rPr sz="1150" b="0" i="0" dirty="0" err="1">
                <a:solidFill>
                  <a:srgbClr val="222B33"/>
                </a:solidFill>
                <a:latin typeface="Calibri"/>
              </a:rPr>
              <a:t>brecha</a:t>
            </a:r>
            <a:r>
              <a:rPr sz="1150" b="0" i="0" dirty="0">
                <a:solidFill>
                  <a:srgbClr val="222B33"/>
                </a:solidFill>
                <a:latin typeface="Calibri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99048" y="1524762"/>
            <a:ext cx="5660136" cy="412851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fig_pca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597914"/>
            <a:ext cx="5513832" cy="398221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172200" y="5870448"/>
            <a:ext cx="55138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1">
                <a:solidFill>
                  <a:srgbClr val="5C6B7A"/>
                </a:solidFill>
                <a:latin typeface="Calibri"/>
              </a:rPr>
              <a:t>Municipios proyectados (PCA) y coloreados por tipología. Demo: mapa interactivo mapa_brechas.html.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09F2C"/>
                </a:solidFill>
                <a:latin typeface="Calibri"/>
              </a:rPr>
              <a:t>A QUIÉN PRIORIZAR PARA EL ACOMPAÑAMIENTO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Resultados · Módulo B (riesgo académico)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274320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00" b="1" i="0">
                <a:solidFill>
                  <a:srgbClr val="E09F2C"/>
                </a:solidFill>
                <a:latin typeface="Calibri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5C6B7A"/>
                </a:solidFill>
                <a:latin typeface="Calibri"/>
              </a:rPr>
              <a:t>Concurso Datos al Ecosistema 2026 — IA para Colombia · Nivel Intermedio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6547104"/>
            <a:ext cx="29077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5C6B7A"/>
                </a:solidFill>
                <a:latin typeface="Calibri"/>
              </a:rPr>
              <a:t>Fuente: datos.gov.co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71600"/>
            <a:ext cx="2651760" cy="1325880"/>
          </a:xfrm>
          <a:prstGeom prst="roundRect">
            <a:avLst>
              <a:gd name="adj" fmla="val 45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499616"/>
            <a:ext cx="26517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E09F2C"/>
                </a:solidFill>
                <a:latin typeface="Calibri"/>
              </a:rPr>
              <a:t>0,87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048256"/>
            <a:ext cx="2432304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ROC-AUC en datos no vistos (reg. logística)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371600"/>
            <a:ext cx="2651760" cy="1325880"/>
          </a:xfrm>
          <a:prstGeom prst="roundRect">
            <a:avLst>
              <a:gd name="adj" fmla="val 4500"/>
            </a:avLst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91840" y="1499616"/>
            <a:ext cx="26517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0B3C5D"/>
                </a:solidFill>
                <a:latin typeface="Calibri"/>
              </a:rPr>
              <a:t>6,2×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2048256"/>
            <a:ext cx="2432304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0B3C5D"/>
                </a:solidFill>
                <a:latin typeface="Calibri"/>
              </a:rPr>
              <a:t>lift: el decil superior captura 63 % de los casos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880360"/>
            <a:ext cx="5440680" cy="297180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02920" y="3236976"/>
            <a:ext cx="82296" cy="2258568"/>
          </a:xfrm>
          <a:prstGeom prst="roundRect">
            <a:avLst/>
          </a:prstGeom>
          <a:solidFill>
            <a:srgbClr val="147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303580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B3C5D"/>
                </a:solidFill>
                <a:latin typeface="Calibri"/>
              </a:rPr>
              <a:t>Factores de riesgo (SHAP)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520440"/>
            <a:ext cx="498348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 i="0" dirty="0">
                <a:solidFill>
                  <a:srgbClr val="E09F2C"/>
                </a:solidFill>
                <a:latin typeface="Calibri"/>
              </a:rPr>
              <a:t>•  </a:t>
            </a:r>
            <a:r>
              <a:rPr sz="1250" b="0" i="0" dirty="0" err="1">
                <a:solidFill>
                  <a:srgbClr val="222B33"/>
                </a:solidFill>
                <a:latin typeface="Calibri"/>
              </a:rPr>
              <a:t>Antigüedad</a:t>
            </a:r>
            <a:r>
              <a:rPr sz="1250" b="0" i="0" dirty="0">
                <a:solidFill>
                  <a:srgbClr val="222B33"/>
                </a:solidFill>
                <a:latin typeface="Calibri"/>
              </a:rPr>
              <a:t> sin </a:t>
            </a:r>
            <a:r>
              <a:rPr sz="1250" b="0" i="0" dirty="0" err="1">
                <a:solidFill>
                  <a:srgbClr val="222B33"/>
                </a:solidFill>
                <a:latin typeface="Calibri"/>
              </a:rPr>
              <a:t>avance</a:t>
            </a:r>
            <a:r>
              <a:rPr sz="1250" b="0" i="0" dirty="0">
                <a:solidFill>
                  <a:srgbClr val="222B33"/>
                </a:solidFill>
                <a:latin typeface="Calibri"/>
              </a:rPr>
              <a:t> de </a:t>
            </a:r>
            <a:r>
              <a:rPr sz="1250" b="0" i="0" dirty="0" err="1">
                <a:solidFill>
                  <a:srgbClr val="222B33"/>
                </a:solidFill>
                <a:latin typeface="Calibri"/>
              </a:rPr>
              <a:t>nivel</a:t>
            </a:r>
            <a:r>
              <a:rPr sz="1250" b="0" i="0" dirty="0">
                <a:solidFill>
                  <a:srgbClr val="222B33"/>
                </a:solidFill>
                <a:latin typeface="Calibri"/>
              </a:rPr>
              <a:t> — el predictor </a:t>
            </a:r>
            <a:r>
              <a:rPr sz="1250" b="0" i="0" dirty="0" err="1">
                <a:solidFill>
                  <a:srgbClr val="222B33"/>
                </a:solidFill>
                <a:latin typeface="Calibri"/>
              </a:rPr>
              <a:t>más</a:t>
            </a:r>
            <a:r>
              <a:rPr sz="1250" b="0" i="0" dirty="0">
                <a:solidFill>
                  <a:srgbClr val="222B33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222B33"/>
                </a:solidFill>
                <a:latin typeface="Calibri"/>
              </a:rPr>
              <a:t>fuerte</a:t>
            </a:r>
            <a:r>
              <a:rPr sz="1250" b="0" i="0" dirty="0">
                <a:solidFill>
                  <a:srgbClr val="222B33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 i="0" dirty="0">
                <a:solidFill>
                  <a:srgbClr val="E09F2C"/>
                </a:solidFill>
                <a:latin typeface="Calibri"/>
              </a:rPr>
              <a:t>•  </a:t>
            </a:r>
            <a:r>
              <a:rPr sz="1250" b="0" i="0" dirty="0" err="1">
                <a:solidFill>
                  <a:srgbClr val="222B33"/>
                </a:solidFill>
                <a:latin typeface="Calibri"/>
              </a:rPr>
              <a:t>Facultad</a:t>
            </a:r>
            <a:r>
              <a:rPr sz="1250" b="0" i="0" dirty="0">
                <a:solidFill>
                  <a:srgbClr val="222B33"/>
                </a:solidFill>
                <a:latin typeface="Calibri"/>
              </a:rPr>
              <a:t> (Ingeniería y </a:t>
            </a:r>
            <a:r>
              <a:rPr sz="1250" b="0" i="0" dirty="0" err="1">
                <a:solidFill>
                  <a:srgbClr val="222B33"/>
                </a:solidFill>
                <a:latin typeface="Calibri"/>
              </a:rPr>
              <a:t>Educación</a:t>
            </a:r>
            <a:r>
              <a:rPr sz="1250" b="0" i="0" dirty="0">
                <a:solidFill>
                  <a:srgbClr val="222B33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222B33"/>
                </a:solidFill>
                <a:latin typeface="Calibri"/>
              </a:rPr>
              <a:t>elevan</a:t>
            </a:r>
            <a:r>
              <a:rPr sz="1250" b="0" i="0" dirty="0">
                <a:solidFill>
                  <a:srgbClr val="222B33"/>
                </a:solidFill>
                <a:latin typeface="Calibri"/>
              </a:rPr>
              <a:t> el </a:t>
            </a:r>
            <a:r>
              <a:rPr sz="1250" b="0" i="0" dirty="0" err="1">
                <a:solidFill>
                  <a:srgbClr val="222B33"/>
                </a:solidFill>
                <a:latin typeface="Calibri"/>
              </a:rPr>
              <a:t>riesgo</a:t>
            </a:r>
            <a:r>
              <a:rPr sz="1250" b="0" i="0" dirty="0">
                <a:solidFill>
                  <a:srgbClr val="222B33"/>
                </a:solidFill>
                <a:latin typeface="Calibri"/>
              </a:rPr>
              <a:t>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 i="0" dirty="0">
                <a:solidFill>
                  <a:srgbClr val="E09F2C"/>
                </a:solidFill>
                <a:latin typeface="Calibri"/>
              </a:rPr>
              <a:t>•  </a:t>
            </a:r>
            <a:r>
              <a:rPr sz="1250" b="0" i="0" dirty="0">
                <a:solidFill>
                  <a:srgbClr val="222B33"/>
                </a:solidFill>
                <a:latin typeface="Calibri"/>
              </a:rPr>
              <a:t>Ser </a:t>
            </a:r>
            <a:r>
              <a:rPr sz="1250" b="0" i="0" dirty="0" err="1">
                <a:solidFill>
                  <a:srgbClr val="222B33"/>
                </a:solidFill>
                <a:latin typeface="Calibri"/>
              </a:rPr>
              <a:t>mujer</a:t>
            </a:r>
            <a:r>
              <a:rPr sz="1250" b="0" i="0" dirty="0">
                <a:solidFill>
                  <a:srgbClr val="222B33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222B33"/>
                </a:solidFill>
                <a:latin typeface="Calibri"/>
              </a:rPr>
              <a:t>aparece</a:t>
            </a:r>
            <a:r>
              <a:rPr sz="1250" b="0" i="0" dirty="0">
                <a:solidFill>
                  <a:srgbClr val="222B33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222B33"/>
                </a:solidFill>
                <a:latin typeface="Calibri"/>
              </a:rPr>
              <a:t>como</a:t>
            </a:r>
            <a:r>
              <a:rPr sz="1250" b="0" i="0" dirty="0">
                <a:solidFill>
                  <a:srgbClr val="222B33"/>
                </a:solidFill>
                <a:latin typeface="Calibri"/>
              </a:rPr>
              <a:t> factor protector.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 i="0" dirty="0">
                <a:solidFill>
                  <a:srgbClr val="E09F2C"/>
                </a:solidFill>
                <a:latin typeface="Calibri"/>
              </a:rPr>
              <a:t>•  </a:t>
            </a:r>
            <a:r>
              <a:rPr sz="1250" b="0" i="0" dirty="0">
                <a:solidFill>
                  <a:srgbClr val="222B33"/>
                </a:solidFill>
                <a:latin typeface="Calibri"/>
              </a:rPr>
              <a:t>El </a:t>
            </a:r>
            <a:r>
              <a:rPr sz="1250" b="0" i="0" dirty="0" err="1">
                <a:solidFill>
                  <a:srgbClr val="222B33"/>
                </a:solidFill>
                <a:latin typeface="Calibri"/>
              </a:rPr>
              <a:t>contexto</a:t>
            </a:r>
            <a:r>
              <a:rPr sz="1250" b="0" i="0" dirty="0">
                <a:solidFill>
                  <a:srgbClr val="222B33"/>
                </a:solidFill>
                <a:latin typeface="Calibri"/>
              </a:rPr>
              <a:t> municipal (</a:t>
            </a:r>
            <a:r>
              <a:rPr sz="1250" b="0" i="0" dirty="0" err="1">
                <a:solidFill>
                  <a:srgbClr val="222B33"/>
                </a:solidFill>
                <a:latin typeface="Calibri"/>
              </a:rPr>
              <a:t>ruralidad</a:t>
            </a:r>
            <a:r>
              <a:rPr sz="1250" b="0" i="0" dirty="0">
                <a:solidFill>
                  <a:srgbClr val="222B33"/>
                </a:solidFill>
                <a:latin typeface="Calibri"/>
              </a:rPr>
              <a:t>, Saber 11 local) </a:t>
            </a:r>
            <a:r>
              <a:rPr sz="1250" b="0" i="0" dirty="0" err="1">
                <a:solidFill>
                  <a:srgbClr val="222B33"/>
                </a:solidFill>
                <a:latin typeface="Calibri"/>
              </a:rPr>
              <a:t>aporta</a:t>
            </a:r>
            <a:r>
              <a:rPr sz="1250" b="0" i="0" dirty="0">
                <a:solidFill>
                  <a:srgbClr val="222B33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222B33"/>
                </a:solidFill>
                <a:latin typeface="Calibri"/>
              </a:rPr>
              <a:t>señal</a:t>
            </a:r>
            <a:r>
              <a:rPr sz="1250" b="0" i="0" dirty="0">
                <a:solidFill>
                  <a:srgbClr val="222B33"/>
                </a:solidFill>
                <a:latin typeface="Calibri"/>
              </a:rPr>
              <a:t>: la </a:t>
            </a:r>
            <a:r>
              <a:rPr sz="1250" b="0" i="0" dirty="0" err="1">
                <a:solidFill>
                  <a:srgbClr val="222B33"/>
                </a:solidFill>
                <a:latin typeface="Calibri"/>
              </a:rPr>
              <a:t>brecha</a:t>
            </a:r>
            <a:r>
              <a:rPr sz="1250" b="0" i="0" dirty="0">
                <a:solidFill>
                  <a:srgbClr val="222B33"/>
                </a:solidFill>
                <a:latin typeface="Calibri"/>
              </a:rPr>
              <a:t> territorial también se </a:t>
            </a:r>
            <a:r>
              <a:rPr sz="1250" b="0" i="0" dirty="0" err="1">
                <a:solidFill>
                  <a:srgbClr val="222B33"/>
                </a:solidFill>
                <a:latin typeface="Calibri"/>
              </a:rPr>
              <a:t>expresa</a:t>
            </a:r>
            <a:r>
              <a:rPr sz="1250" b="0" i="0" dirty="0">
                <a:solidFill>
                  <a:srgbClr val="222B33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222B33"/>
                </a:solidFill>
                <a:latin typeface="Calibri"/>
              </a:rPr>
              <a:t>dentro</a:t>
            </a:r>
            <a:r>
              <a:rPr sz="1250" b="0" i="0" dirty="0">
                <a:solidFill>
                  <a:srgbClr val="222B33"/>
                </a:solidFill>
                <a:latin typeface="Calibri"/>
              </a:rPr>
              <a:t> del aula.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42837" y="1298448"/>
            <a:ext cx="4172558" cy="320954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fig_sh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5989" y="1371600"/>
            <a:ext cx="4026254" cy="306324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082343" y="4453128"/>
            <a:ext cx="3693545" cy="151790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fig_comparacion_model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495" y="4526280"/>
            <a:ext cx="3547241" cy="13716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172200" y="5897880"/>
            <a:ext cx="55138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5C6B7A"/>
                </a:solidFill>
                <a:latin typeface="Calibri"/>
              </a:rPr>
              <a:t>Arriba: importancia SHAP.  Abajo: comparación de 3 modelos (CV estratificada).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09F2C"/>
                </a:solidFill>
                <a:latin typeface="Calibri"/>
              </a:rPr>
              <a:t>PROTOTIPO INTERACTIVO — DEL DATO AL ACOMPAÑAMIENTO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Demo · Calculadora de riesgo académico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274320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00" b="1" i="0">
                <a:solidFill>
                  <a:srgbClr val="E09F2C"/>
                </a:solidFill>
                <a:latin typeface="Calibri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5C6B7A"/>
                </a:solidFill>
                <a:latin typeface="Calibri"/>
              </a:rPr>
              <a:t>Concurso Datos al Ecosistema 2026 — IA para Colombia · Nivel Intermedio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6547104"/>
            <a:ext cx="29077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5C6B7A"/>
                </a:solidFill>
                <a:latin typeface="Calibri"/>
              </a:rPr>
              <a:t>Fuente: datos.gov.co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298448"/>
            <a:ext cx="5074920" cy="448056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2920" y="1836115"/>
            <a:ext cx="82296" cy="3405225"/>
          </a:xfrm>
          <a:prstGeom prst="roundRect">
            <a:avLst/>
          </a:prstGeom>
          <a:solidFill>
            <a:srgbClr val="147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14173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B3C5D"/>
                </a:solidFill>
                <a:latin typeface="Calibri"/>
              </a:rPr>
              <a:t>Formulario · Predicción individual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8470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47D88"/>
                </a:solidFill>
                <a:latin typeface="Calibri"/>
              </a:rPr>
              <a:t>PERFIL ACADÉMICO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139696"/>
            <a:ext cx="2148840" cy="2926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" y="2139696"/>
            <a:ext cx="183794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222B33"/>
                </a:solidFill>
                <a:latin typeface="Calibri"/>
              </a:rPr>
              <a:t>Sexo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88336" y="2139696"/>
            <a:ext cx="1828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5C6B7A"/>
                </a:solidFill>
                <a:latin typeface="Calibri"/>
              </a:rPr>
              <a:t>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2487168"/>
            <a:ext cx="2148840" cy="2926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2487168"/>
            <a:ext cx="183794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222B33"/>
                </a:solidFill>
                <a:latin typeface="Calibri"/>
              </a:rPr>
              <a:t>Sede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88336" y="2487168"/>
            <a:ext cx="1828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5C6B7A"/>
                </a:solidFill>
                <a:latin typeface="Calibri"/>
              </a:rPr>
              <a:t>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2834640"/>
            <a:ext cx="2148840" cy="2926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968" y="2834640"/>
            <a:ext cx="183794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222B33"/>
                </a:solidFill>
                <a:latin typeface="Calibri"/>
              </a:rPr>
              <a:t>Facultad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88336" y="2834640"/>
            <a:ext cx="1828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5C6B7A"/>
                </a:solidFill>
                <a:latin typeface="Calibri"/>
              </a:rPr>
              <a:t>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182112"/>
            <a:ext cx="2148840" cy="2926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6968" y="3182112"/>
            <a:ext cx="183794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222B33"/>
                </a:solidFill>
                <a:latin typeface="Calibri"/>
              </a:rPr>
              <a:t>Tipo de aceptación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88336" y="3182112"/>
            <a:ext cx="1828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5C6B7A"/>
                </a:solidFill>
                <a:latin typeface="Calibri"/>
              </a:rPr>
              <a:t>▾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529584"/>
            <a:ext cx="2148840" cy="2926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86968" y="3529584"/>
            <a:ext cx="183794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222B33"/>
                </a:solidFill>
                <a:latin typeface="Calibri"/>
              </a:rPr>
              <a:t>Naturaleza del colegio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88336" y="3529584"/>
            <a:ext cx="1828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5C6B7A"/>
                </a:solidFill>
                <a:latin typeface="Calibri"/>
              </a:rPr>
              <a:t>▾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3877056"/>
            <a:ext cx="2148840" cy="2926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86968" y="3877056"/>
            <a:ext cx="183794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222B33"/>
                </a:solidFill>
                <a:latin typeface="Calibri"/>
              </a:rPr>
              <a:t>Nivel de pregrado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88336" y="3877056"/>
            <a:ext cx="1828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5C6B7A"/>
                </a:solidFill>
                <a:latin typeface="Calibri"/>
              </a:rPr>
              <a:t>▾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063240" y="2139696"/>
            <a:ext cx="2286000" cy="2926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172968" y="2139696"/>
            <a:ext cx="197510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222B33"/>
                </a:solidFill>
                <a:latin typeface="Calibri"/>
              </a:rPr>
              <a:t>Edad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63240" y="2487168"/>
            <a:ext cx="2286000" cy="2926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172968" y="2487168"/>
            <a:ext cx="197510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222B33"/>
                </a:solidFill>
                <a:latin typeface="Calibri"/>
              </a:rPr>
              <a:t>Estrato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11496" y="2487168"/>
            <a:ext cx="1828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5C6B7A"/>
                </a:solidFill>
                <a:latin typeface="Calibri"/>
              </a:rPr>
              <a:t>▾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063240" y="2834640"/>
            <a:ext cx="2286000" cy="2926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172968" y="2834640"/>
            <a:ext cx="197510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222B33"/>
                </a:solidFill>
                <a:latin typeface="Calibri"/>
              </a:rPr>
              <a:t>Antigüedad (sem.)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63240" y="3182112"/>
            <a:ext cx="2286000" cy="2926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172968" y="3182112"/>
            <a:ext cx="197510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222B33"/>
                </a:solidFill>
                <a:latin typeface="Calibri"/>
              </a:rPr>
              <a:t>Créditos últ. sem.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063240" y="3529584"/>
            <a:ext cx="2286000" cy="2926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172968" y="3529584"/>
            <a:ext cx="197510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222B33"/>
                </a:solidFill>
                <a:latin typeface="Calibri"/>
              </a:rPr>
              <a:t>¿Vive fuera de Antioquia?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424281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47D88"/>
                </a:solidFill>
                <a:latin typeface="Calibri"/>
              </a:rPr>
              <a:t>CONTEXTO DEL MUNICIPIO (AUTOCOMPLETADO)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" y="4535424"/>
            <a:ext cx="2148840" cy="2926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86968" y="4535424"/>
            <a:ext cx="183794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222B33"/>
                </a:solidFill>
                <a:latin typeface="Calibri"/>
              </a:rPr>
              <a:t>Municipio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88336" y="4535424"/>
            <a:ext cx="1828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5C6B7A"/>
                </a:solidFill>
                <a:latin typeface="Calibri"/>
              </a:rPr>
              <a:t>▾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063240" y="4535424"/>
            <a:ext cx="960120" cy="292608"/>
          </a:xfrm>
          <a:prstGeom prst="roundRect">
            <a:avLst/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063240" y="4535424"/>
            <a:ext cx="9601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3C5D"/>
                </a:solidFill>
                <a:latin typeface="Calibri"/>
              </a:rPr>
              <a:t>auto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" y="4882896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5C6B7A"/>
                </a:solidFill>
                <a:latin typeface="Calibri"/>
              </a:rPr>
              <a:t>% rural · Saber 11 municipal · tasa de acompañamiento se completan solos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77240" y="5248656"/>
            <a:ext cx="2468880" cy="402336"/>
          </a:xfrm>
          <a:prstGeom prst="round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77240" y="5248656"/>
            <a:ext cx="24688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▶  Calcular riesgo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04688" y="2743200"/>
            <a:ext cx="6858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E09F2C"/>
                </a:solidFill>
                <a:latin typeface="Calibri"/>
              </a:rPr>
              <a:t>▶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1325880"/>
            <a:ext cx="55138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5C6B7A"/>
                </a:solidFill>
                <a:latin typeface="Calibri"/>
              </a:rPr>
              <a:t>SALIDA DEL MODELO</a:t>
            </a:r>
            <a:r>
              <a:rPr sz="1000" b="0" i="0">
                <a:solidFill>
                  <a:srgbClr val="5C6B7A"/>
                </a:solidFill>
                <a:latin typeface="Calibri"/>
              </a:rPr>
              <a:t>   ·   modelo_riesgo.pkl → predict_proba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172200" y="1719072"/>
            <a:ext cx="5513832" cy="2103120"/>
          </a:xfrm>
          <a:prstGeom prst="roundRect">
            <a:avLst>
              <a:gd name="adj" fmla="val 45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492240" y="1874519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Probabilidad de riesgo académico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0" y="2194560"/>
            <a:ext cx="49377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1" i="0">
                <a:solidFill>
                  <a:srgbClr val="E09F2C"/>
                </a:solidFill>
                <a:latin typeface="Calibri"/>
              </a:rPr>
              <a:t>72,3 %</a:t>
            </a:r>
            <a:r>
              <a:rPr sz="1300" b="0" i="1">
                <a:solidFill>
                  <a:srgbClr val="9FB4C4"/>
                </a:solidFill>
                <a:latin typeface="Calibri"/>
              </a:rPr>
              <a:t>   (ejemplo)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92240" y="3246120"/>
            <a:ext cx="1630680" cy="23774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122920" y="3246120"/>
            <a:ext cx="1630680" cy="237744"/>
          </a:xfrm>
          <a:prstGeom prst="rect">
            <a:avLst/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9753600" y="3246120"/>
            <a:ext cx="1630680" cy="23774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10013640" y="3200400"/>
            <a:ext cx="31089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492240" y="3529584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9FB4C4"/>
                </a:solidFill>
                <a:latin typeface="Calibri"/>
              </a:rPr>
              <a:t>menor riesgo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06840" y="3529584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>
                <a:solidFill>
                  <a:srgbClr val="9FB4C4"/>
                </a:solidFill>
                <a:latin typeface="Calibri"/>
              </a:rPr>
              <a:t>mayor riesgo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172200" y="4023360"/>
            <a:ext cx="5513832" cy="118872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6172200" y="4166006"/>
            <a:ext cx="82296" cy="903427"/>
          </a:xfrm>
          <a:prstGeom prst="roundRect">
            <a:avLst/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492240" y="4160520"/>
            <a:ext cx="50292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B3C5D"/>
                </a:solidFill>
                <a:latin typeface="Calibri"/>
              </a:rPr>
              <a:t>Alerta estadística, no diagnóstico individual.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100" b="0" i="0">
                <a:solidFill>
                  <a:srgbClr val="222B33"/>
                </a:solidFill>
                <a:latin typeface="Calibri"/>
              </a:rPr>
              <a:t>Cuando la probabilidad es ≥ 50 %, se lee junto con el acompañamiento humano de Bienestar.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72200" y="5321808"/>
            <a:ext cx="55138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5C6B7A"/>
                </a:solidFill>
                <a:latin typeface="Calibri"/>
              </a:rPr>
              <a:t>Demo en vivo durante la sustentación (app Streamlit).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02920" y="5943600"/>
            <a:ext cx="11183112" cy="502920"/>
          </a:xfrm>
          <a:prstGeom prst="roundRect">
            <a:avLst>
              <a:gd name="adj" fmla="val 45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22960" y="594360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Salvaguardas:  las opciones categóricas provienen del modelo entrenado (nunca ofrece valores no vistos)   ·   el contexto municipal se autocompleta desde el Módulo 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09F2C"/>
                </a:solidFill>
                <a:latin typeface="Calibri"/>
              </a:rPr>
              <a:t>VALOR PÚBLICO Y SOSTENIBILIDAD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Impacto esperado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274320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00" b="1" i="0">
                <a:solidFill>
                  <a:srgbClr val="E09F2C"/>
                </a:solidFill>
                <a:latin typeface="Calibri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5C6B7A"/>
                </a:solidFill>
                <a:latin typeface="Calibri"/>
              </a:rPr>
              <a:t>Concurso Datos al Ecosistema 2026 — IA para Colombia · Nivel Intermedio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6547104"/>
            <a:ext cx="29077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5C6B7A"/>
                </a:solidFill>
                <a:latin typeface="Calibri"/>
              </a:rPr>
              <a:t>Fuente: datos.gov.co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71600"/>
            <a:ext cx="5513832" cy="201168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2920" y="1613001"/>
            <a:ext cx="82296" cy="1528876"/>
          </a:xfrm>
          <a:prstGeom prst="roundRect">
            <a:avLst/>
          </a:prstGeom>
          <a:solidFill>
            <a:srgbClr val="147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150876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B3C5D"/>
                </a:solidFill>
                <a:latin typeface="Calibri"/>
              </a:rPr>
              <a:t>Beneficiarios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93392"/>
            <a:ext cx="49834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222B33"/>
                </a:solidFill>
                <a:latin typeface="Calibri"/>
              </a:rPr>
              <a:t>Estudiantes de sedes regionales y municipios rurales con mayor brecha.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222B33"/>
                </a:solidFill>
                <a:latin typeface="Calibri"/>
              </a:rPr>
              <a:t>Equipos de Bienestar que focalizan el acompañamiento.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371600"/>
            <a:ext cx="5513832" cy="201168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172200" y="1613001"/>
            <a:ext cx="82296" cy="1528876"/>
          </a:xfrm>
          <a:prstGeom prst="round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150876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B3C5D"/>
                </a:solidFill>
                <a:latin typeface="Calibri"/>
              </a:rPr>
              <a:t>Uso institucional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993392"/>
            <a:ext cx="49834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222B33"/>
                </a:solidFill>
                <a:latin typeface="Calibri"/>
              </a:rPr>
              <a:t>Prioriza Semestre Cero / Soñares / PIES (UdeA) y política territorial (Gobernación).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222B33"/>
                </a:solidFill>
                <a:latin typeface="Calibri"/>
              </a:rPr>
              <a:t>Con capacidad para el 10 % de la matrícula se cubre 2/3 del riesgo.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566160"/>
            <a:ext cx="5513832" cy="201168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02920" y="3807561"/>
            <a:ext cx="82296" cy="1528876"/>
          </a:xfrm>
          <a:prstGeom prst="roundRect">
            <a:avLst/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370332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B3C5D"/>
                </a:solidFill>
                <a:latin typeface="Calibri"/>
              </a:rPr>
              <a:t>Escalabilidad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187952"/>
            <a:ext cx="49834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222B33"/>
                </a:solidFill>
                <a:latin typeface="Calibri"/>
              </a:rPr>
              <a:t>Pipeline reproducible y app desplegable en contenedor.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222B33"/>
                </a:solidFill>
                <a:latin typeface="Calibri"/>
              </a:rPr>
              <a:t>Replicable a otros departamentos con las mismas fuentes abiertas.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566160"/>
            <a:ext cx="5513832" cy="201168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172200" y="3807561"/>
            <a:ext cx="82296" cy="1528876"/>
          </a:xfrm>
          <a:prstGeom prst="roundRect">
            <a:avLst/>
          </a:prstGeom>
          <a:solidFill>
            <a:srgbClr val="1650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40" y="370332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B3C5D"/>
                </a:solidFill>
                <a:latin typeface="Calibri"/>
              </a:rPr>
              <a:t>Ética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187952"/>
            <a:ext cx="49834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222B33"/>
                </a:solidFill>
                <a:latin typeface="Calibri"/>
              </a:rPr>
              <a:t>El scoring prioriza acompañamiento, nunca restringe el acceso.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222B33"/>
                </a:solidFill>
                <a:latin typeface="Calibri"/>
              </a:rPr>
              <a:t>Datos anonimizados; hace explícitas las desigualdades históricas.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806440"/>
            <a:ext cx="11183112" cy="548640"/>
          </a:xfrm>
          <a:prstGeom prst="roundRect">
            <a:avLst>
              <a:gd name="adj" fmla="val 4500"/>
            </a:avLst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58064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B3C5D"/>
                </a:solidFill>
                <a:latin typeface="Calibri"/>
              </a:rPr>
              <a:t>Focalización accionable: menos recursos, mejor dirigidos, con evidencia de datos abiertos.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09F2C"/>
                </a:solidFill>
                <a:latin typeface="Calibri"/>
              </a:rPr>
              <a:t>RECURSOS PARA REVISIÓN DEL JURADO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Repositorio y validación técnica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274320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00" b="1" i="0">
                <a:solidFill>
                  <a:srgbClr val="E09F2C"/>
                </a:solidFill>
                <a:latin typeface="Calibri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5C6B7A"/>
                </a:solidFill>
                <a:latin typeface="Calibri"/>
              </a:rPr>
              <a:t>Concurso Datos al Ecosistema 2026 — IA para Colombia · Nivel Intermedio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6547104"/>
            <a:ext cx="29077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5C6B7A"/>
                </a:solidFill>
                <a:latin typeface="Calibri"/>
              </a:rPr>
              <a:t>Fuente: datos.gov.co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71600"/>
            <a:ext cx="6949440" cy="4480560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2920" y="1909267"/>
            <a:ext cx="82296" cy="3405225"/>
          </a:xfrm>
          <a:prstGeom prst="roundRect">
            <a:avLst/>
          </a:prstGeom>
          <a:solidFill>
            <a:srgbClr val="147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15544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0B3C5D"/>
                </a:solidFill>
                <a:latin typeface="Calibri"/>
              </a:rPr>
              <a:t>Checklist de entregables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103120"/>
            <a:ext cx="6446520" cy="22006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400" b="1" i="0" dirty="0">
                <a:solidFill>
                  <a:srgbClr val="147D88"/>
                </a:solidFill>
                <a:latin typeface="Calibri"/>
              </a:rPr>
              <a:t>✔  </a:t>
            </a:r>
            <a:r>
              <a:rPr sz="1350" b="1" i="0" dirty="0" err="1">
                <a:solidFill>
                  <a:srgbClr val="222B33"/>
                </a:solidFill>
                <a:latin typeface="Calibri"/>
              </a:rPr>
              <a:t>Repositorio</a:t>
            </a:r>
            <a:r>
              <a:rPr sz="1350" b="1" i="0" dirty="0">
                <a:solidFill>
                  <a:srgbClr val="222B33"/>
                </a:solidFill>
                <a:latin typeface="Calibri"/>
              </a:rPr>
              <a:t>:  </a:t>
            </a:r>
            <a:r>
              <a:rPr lang="es-CO" sz="1400" dirty="0">
                <a:hlinkClick r:id="rId2"/>
              </a:rPr>
              <a:t>https://github.com/jgomelop/MINTIC</a:t>
            </a:r>
            <a:endParaRPr lang="es-CO" sz="1400" dirty="0"/>
          </a:p>
          <a:p>
            <a:pPr>
              <a:spcAft>
                <a:spcPts val="900"/>
              </a:spcAft>
            </a:pPr>
            <a:r>
              <a:rPr sz="1400" b="1" i="0" dirty="0">
                <a:solidFill>
                  <a:srgbClr val="147D88"/>
                </a:solidFill>
                <a:latin typeface="Calibri"/>
              </a:rPr>
              <a:t>✔  </a:t>
            </a:r>
            <a:r>
              <a:rPr sz="1350" b="1" i="0" dirty="0">
                <a:solidFill>
                  <a:srgbClr val="222B33"/>
                </a:solidFill>
                <a:latin typeface="Calibri"/>
              </a:rPr>
              <a:t>Código </a:t>
            </a:r>
            <a:r>
              <a:rPr sz="1350" b="1" i="0" dirty="0" err="1">
                <a:solidFill>
                  <a:srgbClr val="222B33"/>
                </a:solidFill>
                <a:latin typeface="Calibri"/>
              </a:rPr>
              <a:t>fuente</a:t>
            </a:r>
            <a:r>
              <a:rPr sz="1350" b="1" i="0" dirty="0">
                <a:solidFill>
                  <a:srgbClr val="222B33"/>
                </a:solidFill>
                <a:latin typeface="Calibri"/>
              </a:rPr>
              <a:t> </a:t>
            </a:r>
            <a:r>
              <a:rPr sz="1350" b="1" i="0" dirty="0" err="1">
                <a:solidFill>
                  <a:srgbClr val="222B33"/>
                </a:solidFill>
                <a:latin typeface="Calibri"/>
              </a:rPr>
              <a:t>organizado</a:t>
            </a:r>
            <a:r>
              <a:rPr sz="1350" b="1" i="0" dirty="0">
                <a:solidFill>
                  <a:srgbClr val="222B33"/>
                </a:solidFill>
                <a:latin typeface="Calibri"/>
              </a:rPr>
              <a:t>:  </a:t>
            </a:r>
            <a:r>
              <a:rPr sz="1350" b="0" i="0" dirty="0" err="1">
                <a:solidFill>
                  <a:srgbClr val="5C6B7A"/>
                </a:solidFill>
                <a:latin typeface="Calibri"/>
              </a:rPr>
              <a:t>src</a:t>
            </a:r>
            <a:r>
              <a:rPr sz="1350" b="0" i="0" dirty="0">
                <a:solidFill>
                  <a:srgbClr val="5C6B7A"/>
                </a:solidFill>
                <a:latin typeface="Calibri"/>
              </a:rPr>
              <a:t>/ — acquire · clean · integrate · </a:t>
            </a:r>
            <a:r>
              <a:rPr sz="1350" b="0" i="0" dirty="0" err="1">
                <a:solidFill>
                  <a:srgbClr val="5C6B7A"/>
                </a:solidFill>
                <a:latin typeface="Calibri"/>
              </a:rPr>
              <a:t>module_a</a:t>
            </a:r>
            <a:r>
              <a:rPr sz="1350" b="0" i="0" dirty="0">
                <a:solidFill>
                  <a:srgbClr val="5C6B7A"/>
                </a:solidFill>
                <a:latin typeface="Calibri"/>
              </a:rPr>
              <a:t> · </a:t>
            </a:r>
            <a:r>
              <a:rPr sz="1350" b="0" i="0" dirty="0" err="1">
                <a:solidFill>
                  <a:srgbClr val="5C6B7A"/>
                </a:solidFill>
                <a:latin typeface="Calibri"/>
              </a:rPr>
              <a:t>module_b</a:t>
            </a:r>
            <a:endParaRPr sz="1350" b="0" i="0" dirty="0">
              <a:solidFill>
                <a:srgbClr val="5C6B7A"/>
              </a:solidFill>
              <a:latin typeface="Calibri"/>
            </a:endParaRPr>
          </a:p>
          <a:p>
            <a:pPr algn="l">
              <a:spcAft>
                <a:spcPts val="900"/>
              </a:spcAft>
            </a:pPr>
            <a:r>
              <a:rPr sz="1400" b="1" i="0" dirty="0">
                <a:solidFill>
                  <a:srgbClr val="147D88"/>
                </a:solidFill>
                <a:latin typeface="Calibri"/>
              </a:rPr>
              <a:t>✔  </a:t>
            </a:r>
            <a:r>
              <a:rPr sz="1350" b="1" i="0" dirty="0">
                <a:solidFill>
                  <a:srgbClr val="222B33"/>
                </a:solidFill>
                <a:latin typeface="Calibri"/>
              </a:rPr>
              <a:t>Datos y enlaces </a:t>
            </a:r>
            <a:r>
              <a:rPr sz="1350" b="1" i="0" dirty="0" err="1">
                <a:solidFill>
                  <a:srgbClr val="222B33"/>
                </a:solidFill>
                <a:latin typeface="Calibri"/>
              </a:rPr>
              <a:t>oficiales</a:t>
            </a:r>
            <a:r>
              <a:rPr sz="1350" b="1" i="0" dirty="0">
                <a:solidFill>
                  <a:srgbClr val="222B33"/>
                </a:solidFill>
                <a:latin typeface="Calibri"/>
              </a:rPr>
              <a:t>:  </a:t>
            </a:r>
            <a:r>
              <a:rPr sz="1350" b="0" i="0" dirty="0">
                <a:solidFill>
                  <a:srgbClr val="5C6B7A"/>
                </a:solidFill>
                <a:latin typeface="Calibri"/>
              </a:rPr>
              <a:t>datos.gov.co — Saber 11, Censo, </a:t>
            </a:r>
            <a:r>
              <a:rPr sz="1350" b="0" i="0" dirty="0" err="1">
                <a:solidFill>
                  <a:srgbClr val="5C6B7A"/>
                </a:solidFill>
                <a:latin typeface="Calibri"/>
              </a:rPr>
              <a:t>Beneficiarios</a:t>
            </a:r>
            <a:r>
              <a:rPr sz="1350" b="0" i="0" dirty="0">
                <a:solidFill>
                  <a:srgbClr val="5C6B7A"/>
                </a:solidFill>
                <a:latin typeface="Calibri"/>
              </a:rPr>
              <a:t>, DIVIPOLA</a:t>
            </a:r>
          </a:p>
          <a:p>
            <a:pPr algn="l">
              <a:spcAft>
                <a:spcPts val="900"/>
              </a:spcAft>
            </a:pPr>
            <a:r>
              <a:rPr sz="1400" b="1" i="0" dirty="0">
                <a:solidFill>
                  <a:srgbClr val="147D88"/>
                </a:solidFill>
                <a:latin typeface="Calibri"/>
              </a:rPr>
              <a:t>✔  </a:t>
            </a:r>
            <a:r>
              <a:rPr sz="1350" b="1" i="0" dirty="0" err="1">
                <a:solidFill>
                  <a:srgbClr val="222B33"/>
                </a:solidFill>
                <a:latin typeface="Calibri"/>
              </a:rPr>
              <a:t>Documentación</a:t>
            </a:r>
            <a:r>
              <a:rPr sz="1350" b="1" i="0" dirty="0">
                <a:solidFill>
                  <a:srgbClr val="222B33"/>
                </a:solidFill>
                <a:latin typeface="Calibri"/>
              </a:rPr>
              <a:t> </a:t>
            </a:r>
            <a:r>
              <a:rPr sz="1350" b="1" i="0" dirty="0" err="1">
                <a:solidFill>
                  <a:srgbClr val="222B33"/>
                </a:solidFill>
                <a:latin typeface="Calibri"/>
              </a:rPr>
              <a:t>técnica</a:t>
            </a:r>
            <a:r>
              <a:rPr sz="1350" b="1" i="0" dirty="0">
                <a:solidFill>
                  <a:srgbClr val="222B33"/>
                </a:solidFill>
                <a:latin typeface="Calibri"/>
              </a:rPr>
              <a:t>:  </a:t>
            </a:r>
            <a:r>
              <a:rPr sz="1350" b="0" i="0" dirty="0">
                <a:solidFill>
                  <a:srgbClr val="5C6B7A"/>
                </a:solidFill>
                <a:latin typeface="Calibri"/>
              </a:rPr>
              <a:t>README.md con </a:t>
            </a:r>
            <a:r>
              <a:rPr sz="1350" b="0" i="0" dirty="0" err="1">
                <a:solidFill>
                  <a:srgbClr val="5C6B7A"/>
                </a:solidFill>
                <a:latin typeface="Calibri"/>
              </a:rPr>
              <a:t>reproducción</a:t>
            </a:r>
            <a:r>
              <a:rPr sz="1350" b="0" i="0" dirty="0">
                <a:solidFill>
                  <a:srgbClr val="5C6B7A"/>
                </a:solidFill>
                <a:latin typeface="Calibri"/>
              </a:rPr>
              <a:t> paso a paso</a:t>
            </a:r>
          </a:p>
          <a:p>
            <a:pPr algn="l">
              <a:spcAft>
                <a:spcPts val="900"/>
              </a:spcAft>
            </a:pPr>
            <a:r>
              <a:rPr sz="1400" b="1" i="0" dirty="0">
                <a:solidFill>
                  <a:srgbClr val="147D88"/>
                </a:solidFill>
                <a:latin typeface="Calibri"/>
              </a:rPr>
              <a:t>✔  </a:t>
            </a:r>
            <a:r>
              <a:rPr sz="1350" b="1" i="0" dirty="0">
                <a:solidFill>
                  <a:srgbClr val="222B33"/>
                </a:solidFill>
                <a:latin typeface="Calibri"/>
              </a:rPr>
              <a:t>Notebooks </a:t>
            </a:r>
            <a:r>
              <a:rPr sz="1350" b="1" i="0" dirty="0" err="1">
                <a:solidFill>
                  <a:srgbClr val="222B33"/>
                </a:solidFill>
                <a:latin typeface="Calibri"/>
              </a:rPr>
              <a:t>narrativos</a:t>
            </a:r>
            <a:r>
              <a:rPr sz="1350" b="1" i="0" dirty="0">
                <a:solidFill>
                  <a:srgbClr val="222B33"/>
                </a:solidFill>
                <a:latin typeface="Calibri"/>
              </a:rPr>
              <a:t>:  </a:t>
            </a:r>
            <a:r>
              <a:rPr sz="1350" b="0" i="0" dirty="0">
                <a:solidFill>
                  <a:srgbClr val="5C6B7A"/>
                </a:solidFill>
                <a:latin typeface="Calibri"/>
              </a:rPr>
              <a:t>01 </a:t>
            </a:r>
            <a:r>
              <a:rPr sz="1350" b="0" i="0" dirty="0" err="1">
                <a:solidFill>
                  <a:srgbClr val="5C6B7A"/>
                </a:solidFill>
                <a:latin typeface="Calibri"/>
              </a:rPr>
              <a:t>limpieza</a:t>
            </a:r>
            <a:r>
              <a:rPr sz="1350" b="0" i="0" dirty="0">
                <a:solidFill>
                  <a:srgbClr val="5C6B7A"/>
                </a:solidFill>
                <a:latin typeface="Calibri"/>
              </a:rPr>
              <a:t> · 02 </a:t>
            </a:r>
            <a:r>
              <a:rPr sz="1350" b="0" i="0" dirty="0" err="1">
                <a:solidFill>
                  <a:srgbClr val="5C6B7A"/>
                </a:solidFill>
                <a:latin typeface="Calibri"/>
              </a:rPr>
              <a:t>módulo</a:t>
            </a:r>
            <a:r>
              <a:rPr sz="1350" b="0" i="0" dirty="0">
                <a:solidFill>
                  <a:srgbClr val="5C6B7A"/>
                </a:solidFill>
                <a:latin typeface="Calibri"/>
              </a:rPr>
              <a:t> A · 03 </a:t>
            </a:r>
            <a:r>
              <a:rPr sz="1350" b="0" i="0" dirty="0" err="1">
                <a:solidFill>
                  <a:srgbClr val="5C6B7A"/>
                </a:solidFill>
                <a:latin typeface="Calibri"/>
              </a:rPr>
              <a:t>módulo</a:t>
            </a:r>
            <a:r>
              <a:rPr sz="1350" b="0" i="0" dirty="0">
                <a:solidFill>
                  <a:srgbClr val="5C6B7A"/>
                </a:solidFill>
                <a:latin typeface="Calibri"/>
              </a:rPr>
              <a:t> B</a:t>
            </a:r>
          </a:p>
          <a:p>
            <a:pPr algn="l">
              <a:spcAft>
                <a:spcPts val="900"/>
              </a:spcAft>
            </a:pPr>
            <a:r>
              <a:rPr sz="1400" b="1" i="0" dirty="0">
                <a:solidFill>
                  <a:srgbClr val="147D88"/>
                </a:solidFill>
                <a:latin typeface="Calibri"/>
              </a:rPr>
              <a:t>✔  </a:t>
            </a:r>
            <a:r>
              <a:rPr sz="1350" b="1" i="0" dirty="0">
                <a:solidFill>
                  <a:srgbClr val="222B33"/>
                </a:solidFill>
                <a:latin typeface="Calibri"/>
              </a:rPr>
              <a:t>Demo / </a:t>
            </a:r>
            <a:r>
              <a:rPr sz="1350" b="1" i="0" dirty="0" err="1">
                <a:solidFill>
                  <a:srgbClr val="222B33"/>
                </a:solidFill>
                <a:latin typeface="Calibri"/>
              </a:rPr>
              <a:t>prototipo</a:t>
            </a:r>
            <a:r>
              <a:rPr sz="1350" b="1" i="0" dirty="0">
                <a:solidFill>
                  <a:srgbClr val="222B33"/>
                </a:solidFill>
                <a:latin typeface="Calibri"/>
              </a:rPr>
              <a:t>:  </a:t>
            </a:r>
            <a:r>
              <a:rPr sz="1350" b="0" i="0" dirty="0">
                <a:solidFill>
                  <a:srgbClr val="5C6B7A"/>
                </a:solidFill>
                <a:latin typeface="Calibri"/>
              </a:rPr>
              <a:t>app </a:t>
            </a:r>
            <a:r>
              <a:rPr sz="1350" b="0" i="0" dirty="0" err="1">
                <a:solidFill>
                  <a:srgbClr val="5C6B7A"/>
                </a:solidFill>
                <a:latin typeface="Calibri"/>
              </a:rPr>
              <a:t>Streamlit</a:t>
            </a:r>
            <a:r>
              <a:rPr sz="1350" b="0" i="0" dirty="0">
                <a:solidFill>
                  <a:srgbClr val="5C6B7A"/>
                </a:solidFill>
                <a:latin typeface="Calibri"/>
              </a:rPr>
              <a:t> </a:t>
            </a:r>
            <a:r>
              <a:rPr sz="1350" b="0" i="0" dirty="0" err="1">
                <a:solidFill>
                  <a:srgbClr val="5C6B7A"/>
                </a:solidFill>
                <a:latin typeface="Calibri"/>
              </a:rPr>
              <a:t>dockerizada</a:t>
            </a:r>
            <a:r>
              <a:rPr sz="1350" b="0" i="0" dirty="0">
                <a:solidFill>
                  <a:srgbClr val="5C6B7A"/>
                </a:solidFill>
                <a:latin typeface="Calibri"/>
              </a:rPr>
              <a:t> (:8501) — </a:t>
            </a:r>
            <a:r>
              <a:rPr sz="1350" b="0" i="0" dirty="0" err="1">
                <a:solidFill>
                  <a:srgbClr val="5C6B7A"/>
                </a:solidFill>
                <a:latin typeface="Calibri"/>
              </a:rPr>
              <a:t>calculadora</a:t>
            </a:r>
            <a:r>
              <a:rPr sz="1350" b="0" i="0" dirty="0">
                <a:solidFill>
                  <a:srgbClr val="5C6B7A"/>
                </a:solidFill>
                <a:latin typeface="Calibri"/>
              </a:rPr>
              <a:t> de </a:t>
            </a:r>
            <a:r>
              <a:rPr sz="1350" b="0" i="0" dirty="0" err="1">
                <a:solidFill>
                  <a:srgbClr val="5C6B7A"/>
                </a:solidFill>
                <a:latin typeface="Calibri"/>
              </a:rPr>
              <a:t>riesgo</a:t>
            </a:r>
            <a:r>
              <a:rPr sz="1350" b="0" i="0" dirty="0">
                <a:solidFill>
                  <a:srgbClr val="5C6B7A"/>
                </a:solidFill>
                <a:latin typeface="Calibri"/>
              </a:rPr>
              <a:t> individual</a:t>
            </a:r>
          </a:p>
          <a:p>
            <a:pPr algn="l">
              <a:spcAft>
                <a:spcPts val="900"/>
              </a:spcAft>
            </a:pPr>
            <a:r>
              <a:rPr sz="1400" b="1" i="0" dirty="0">
                <a:solidFill>
                  <a:srgbClr val="147D88"/>
                </a:solidFill>
                <a:latin typeface="Calibri"/>
              </a:rPr>
              <a:t>✔  </a:t>
            </a:r>
            <a:r>
              <a:rPr sz="1350" b="1" i="0" dirty="0" err="1">
                <a:solidFill>
                  <a:srgbClr val="222B33"/>
                </a:solidFill>
                <a:latin typeface="Calibri"/>
              </a:rPr>
              <a:t>Recursos</a:t>
            </a:r>
            <a:r>
              <a:rPr sz="1350" b="1" i="0" dirty="0">
                <a:solidFill>
                  <a:srgbClr val="222B33"/>
                </a:solidFill>
                <a:latin typeface="Calibri"/>
              </a:rPr>
              <a:t> de </a:t>
            </a:r>
            <a:r>
              <a:rPr sz="1350" b="1" i="0" dirty="0" err="1">
                <a:solidFill>
                  <a:srgbClr val="222B33"/>
                </a:solidFill>
                <a:latin typeface="Calibri"/>
              </a:rPr>
              <a:t>resultados</a:t>
            </a:r>
            <a:r>
              <a:rPr sz="1350" b="1" i="0" dirty="0">
                <a:solidFill>
                  <a:srgbClr val="222B33"/>
                </a:solidFill>
                <a:latin typeface="Calibri"/>
              </a:rPr>
              <a:t>:  </a:t>
            </a:r>
            <a:r>
              <a:rPr sz="1350" b="0" i="0" dirty="0">
                <a:solidFill>
                  <a:srgbClr val="5C6B7A"/>
                </a:solidFill>
                <a:latin typeface="Calibri"/>
              </a:rPr>
              <a:t>outputs/ — </a:t>
            </a:r>
            <a:r>
              <a:rPr sz="1350" b="0" i="0" dirty="0" err="1">
                <a:solidFill>
                  <a:srgbClr val="5C6B7A"/>
                </a:solidFill>
                <a:latin typeface="Calibri"/>
              </a:rPr>
              <a:t>modelo</a:t>
            </a:r>
            <a:r>
              <a:rPr sz="1350" b="0" i="0" dirty="0">
                <a:solidFill>
                  <a:srgbClr val="5C6B7A"/>
                </a:solidFill>
                <a:latin typeface="Calibri"/>
              </a:rPr>
              <a:t>, </a:t>
            </a:r>
            <a:r>
              <a:rPr sz="1350" b="0" i="0" dirty="0" err="1">
                <a:solidFill>
                  <a:srgbClr val="5C6B7A"/>
                </a:solidFill>
                <a:latin typeface="Calibri"/>
              </a:rPr>
              <a:t>métricas</a:t>
            </a:r>
            <a:r>
              <a:rPr sz="1350" b="0" i="0" dirty="0">
                <a:solidFill>
                  <a:srgbClr val="5C6B7A"/>
                </a:solidFill>
                <a:latin typeface="Calibri"/>
              </a:rPr>
              <a:t>, ranking, </a:t>
            </a:r>
            <a:r>
              <a:rPr sz="1350" b="0" i="0" dirty="0" err="1">
                <a:solidFill>
                  <a:srgbClr val="5C6B7A"/>
                </a:solidFill>
                <a:latin typeface="Calibri"/>
              </a:rPr>
              <a:t>mapa</a:t>
            </a:r>
            <a:r>
              <a:rPr sz="1350" b="0" i="0" dirty="0">
                <a:solidFill>
                  <a:srgbClr val="5C6B7A"/>
                </a:solidFill>
                <a:latin typeface="Calibri"/>
              </a:rPr>
              <a:t>, </a:t>
            </a:r>
            <a:r>
              <a:rPr sz="1350" b="0" i="0" dirty="0" err="1">
                <a:solidFill>
                  <a:srgbClr val="5C6B7A"/>
                </a:solidFill>
                <a:latin typeface="Calibri"/>
              </a:rPr>
              <a:t>figuras</a:t>
            </a:r>
            <a:endParaRPr sz="1350" b="0" i="0" dirty="0">
              <a:solidFill>
                <a:srgbClr val="5C6B7A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635240" y="1371600"/>
            <a:ext cx="4050791" cy="4480560"/>
          </a:xfrm>
          <a:prstGeom prst="roundRect">
            <a:avLst>
              <a:gd name="adj" fmla="val 45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79" y="169164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09F2C"/>
                </a:solidFill>
                <a:latin typeface="Calibri"/>
              </a:rPr>
              <a:t>Reproducible de punta a punta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331720"/>
            <a:ext cx="34290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Python 3.12 · scikit-learn · LightGBM · SHAP · Streamlit.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Un comando por etapa regenera datos, modelos y figuras.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Imagen Docker/Podman lista para desplegar la demo.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4892040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1">
                <a:solidFill>
                  <a:srgbClr val="CFDDE8"/>
                </a:solidFill>
                <a:latin typeface="Calibri"/>
              </a:rPr>
              <a:t>Enlaces completos = condiciones para validar recursos, bases, código y resultados.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47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E09F2C"/>
                </a:solidFill>
                <a:latin typeface="Calibri"/>
              </a:rPr>
              <a:t>CIERRE · VALOR DIFERENCIAL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60704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Una sola inteligencia sobre datos abiertos:</a:t>
            </a:r>
          </a:p>
          <a:p>
            <a:pPr algn="l">
              <a:spcBef>
                <a:spcPts val="200"/>
              </a:spcBef>
            </a:pPr>
            <a:r>
              <a:rPr sz="3400" b="1" i="0">
                <a:solidFill>
                  <a:srgbClr val="E09F2C"/>
                </a:solidFill>
                <a:latin typeface="Calibri"/>
              </a:rPr>
              <a:t>del territorio al aula.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429000"/>
            <a:ext cx="1042416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Integra el módulo territorial (dónde) y el de riesgo (a quién) en una sola herramienta accionable.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5 conjuntos integrados con cruce del 100 % y validación estadística en ambos módulos.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E09F2C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Reproducible y desplegable: del notebook a la app en contenedor.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532120"/>
            <a:ext cx="10543032" cy="868680"/>
          </a:xfrm>
          <a:prstGeom prst="roundRect">
            <a:avLst>
              <a:gd name="adj" fmla="val 4500"/>
            </a:avLst>
          </a:prstGeom>
          <a:solidFill>
            <a:srgbClr val="1650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2960" y="5636361"/>
            <a:ext cx="82296" cy="660196"/>
          </a:xfrm>
          <a:prstGeom prst="roundRect">
            <a:avLst/>
          </a:prstGeom>
          <a:solidFill>
            <a:srgbClr val="E09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5532120"/>
            <a:ext cx="100584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Problema real  +  datos abiertos  +  IA  +  impacto público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FFFFFF"/>
      </a:dk1>
      <a:lt1>
        <a:sysClr val="window" lastClr="20202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1429</Words>
  <Application>Microsoft Office PowerPoint</Application>
  <PresentationFormat>Panorámica</PresentationFormat>
  <Paragraphs>198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Francisco Borrero</cp:lastModifiedBy>
  <cp:revision>5</cp:revision>
  <dcterms:created xsi:type="dcterms:W3CDTF">2013-01-27T09:14:16Z</dcterms:created>
  <dcterms:modified xsi:type="dcterms:W3CDTF">2026-07-22T19:44:48Z</dcterms:modified>
  <cp:category/>
</cp:coreProperties>
</file>