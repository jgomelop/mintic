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9F2C"/>
                </a:solidFill>
                <a:latin typeface="Calibri"/>
              </a:rPr>
              <a:t>CONCURSO DATOS AL ECOSISTEMA 2026 · IA PARA COLOMBIA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Del colegio a la universidad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2000" b="0" i="0">
                <a:solidFill>
                  <a:srgbClr val="CFDDE8"/>
                </a:solidFill>
                <a:latin typeface="Calibri"/>
              </a:rPr>
              <a:t>Inteligencia territorial para cerrar brechas de acceso y permanencia en la educación superior de Antioquia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10515600" cy="1737360"/>
          </a:xfrm>
          <a:prstGeom prst="roundRect">
            <a:avLst>
              <a:gd name="adj" fmla="val 4500"/>
            </a:avLst>
          </a:prstGeom>
          <a:solidFill>
            <a:srgbClr val="165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186122"/>
            <a:ext cx="82296" cy="1320393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16052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Nivel: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Intermedio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ID del equipo: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[completar]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Integrantes: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[Nombre 1] · [Nombre 2] · [Nombre 3]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Institución: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[Universidad / entidad]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Fecha de sustentación: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[dd/mm/2026]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FB4C4"/>
                </a:solidFill>
                <a:latin typeface="Calibri"/>
              </a:rPr>
              <a:t>Datos abiertos + IA + impacto público  ·  Repositorio y app desplegable incluidos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NECESIDAD PÚBLICA Y TERRITORIAL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Problema y 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32120" cy="35661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99539"/>
            <a:ext cx="82296" cy="2710281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3C5D"/>
                </a:solidFill>
                <a:latin typeface="Calibri"/>
              </a:rPr>
              <a:t>El 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57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En Antioquia el acceso y la permanencia en educación superior son muy desiguales entre municipios urbanos y rurales.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No hay una focalización basada en datos que conecte el territorio (de dónde viene el estudiante) con el aula (cómo le va).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El acompañamiento institucional (Semestre Cero, Soñares, PIES) tiene capacidad limitada y necesita priorizar a quién atiende.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5513832" cy="35661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799539"/>
            <a:ext cx="82296" cy="2710281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3C5D"/>
                </a:solidFill>
                <a:latin typeface="Calibri"/>
              </a:rPr>
              <a:t>El objetivo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Identificar los municipios con mayor brecha de acceso (módulo territorial no supervisado).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Detectar tempranamente a los estudiantes con mayor riesgo académico (módulo supervisado).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Entregar insumos accionables para priorizar el acompañamiento, con datos abiertos + IA de forma reproducible.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66360"/>
            <a:ext cx="11183112" cy="114300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Problema real  +  datos abiertos  +  IA  +  impacto público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CFDDE8"/>
                </a:solidFill>
                <a:latin typeface="Calibri"/>
              </a:rPr>
              <a:t>una sola herramienta reproducible que va del territorio al aula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FUENTES, VARIABLES Y TRATAMIENTO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Datos abiertos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371600"/>
          <a:ext cx="7406639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639"/>
                <a:gridCol w="2514600"/>
                <a:gridCol w="914400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Conjunto</a:t>
                      </a:r>
                    </a:p>
                  </a:txBody>
                  <a:tcPr marL="91440" marR="54864" marT="27432" marB="27432" anchor="ctr"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91440" marR="54864" marT="27432" marB="27432" anchor="ctr"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Registros</a:t>
                      </a:r>
                    </a:p>
                  </a:txBody>
                  <a:tcPr marL="91440" marR="54864" marT="27432" marB="27432" anchor="ctr">
                    <a:solidFill>
                      <a:srgbClr val="0B3C5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Matrícula UdeA — sedes regionales 2026-1</a:t>
                      </a:r>
                    </a:p>
                  </a:txBody>
                  <a:tcPr marL="91440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Universidad de Antioquia</a:t>
                      </a:r>
                    </a:p>
                  </a:txBody>
                  <a:tcPr marL="91440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8.157</a:t>
                      </a:r>
                    </a:p>
                  </a:txBody>
                  <a:tcPr marL="91440" marR="54864" marT="27432" marB="27432" anchor="ctr">
                    <a:solidFill>
                      <a:srgbClr val="F5F7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Beneficiarios de acompañamiento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Gob. Antioquia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13.778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Población censada 2018</a:t>
                      </a:r>
                    </a:p>
                  </a:txBody>
                  <a:tcPr marL="91440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DANE</a:t>
                      </a:r>
                    </a:p>
                  </a:txBody>
                  <a:tcPr marL="91440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12.825</a:t>
                      </a:r>
                    </a:p>
                  </a:txBody>
                  <a:tcPr marL="91440" marR="54864" marT="27432" marB="27432" anchor="ctr">
                    <a:solidFill>
                      <a:srgbClr val="F5F7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Saber 11 — ICFES (2018+)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ICFES (API)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297.962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DIVIPOLA — municipios</a:t>
                      </a:r>
                    </a:p>
                  </a:txBody>
                  <a:tcPr marL="91440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DANE (API)</a:t>
                      </a:r>
                    </a:p>
                  </a:txBody>
                  <a:tcPr marL="91440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1.122</a:t>
                      </a:r>
                    </a:p>
                  </a:txBody>
                  <a:tcPr marL="91440" marR="54864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92440" y="1371600"/>
            <a:ext cx="3593592" cy="33832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777593"/>
            <a:ext cx="82296" cy="2571292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36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Integración y calidad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30632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Llave común: código DANE de municipio (5 dígitos) — 125 municipios integrados.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Cruce del 100 % (auditoría difusa de nombres con rapidfuzz).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Limpieza: mojibake (ftfy), fechas mixtas y API Socrata paginada.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Matrices analíticas: 125×26 (municipal) y 8.157×23 (estudiantes).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29200"/>
            <a:ext cx="3566160" cy="123444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15721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4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705856"/>
            <a:ext cx="3346704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conjuntos provienen de datos.gov.co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5029200"/>
            <a:ext cx="3566160" cy="1234440"/>
          </a:xfrm>
          <a:prstGeom prst="roundRect">
            <a:avLst>
              <a:gd name="adj" fmla="val 4500"/>
            </a:avLst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515721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~334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5705856"/>
            <a:ext cx="3346704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registros integrados de 5 fuentes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029200"/>
            <a:ext cx="3547872" cy="123444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5157216"/>
            <a:ext cx="3547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100 %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705856"/>
            <a:ext cx="332841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 cruce por código DANE de municipio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FUNCIONAMIENTO Y COMPONENTE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Solución 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71600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acquire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371600"/>
            <a:ext cx="384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371600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1371600"/>
            <a:ext cx="384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371600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1371600"/>
            <a:ext cx="384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1371600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module A /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37160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A"/>
                </a:solidFill>
                <a:latin typeface="Calibri"/>
              </a:rPr>
              <a:t>Pipeline reproducible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240280"/>
            <a:ext cx="5532120" cy="32461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2629814"/>
            <a:ext cx="82296" cy="2467051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3957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Módulo A · Tipologías territoriales</a:t>
            </a:r>
          </a:p>
          <a:p>
            <a:pPr algn="l"/>
            <a:r>
              <a:rPr sz="1100" b="1" i="0">
                <a:solidFill>
                  <a:srgbClr val="147D88"/>
                </a:solidFill>
                <a:latin typeface="Calibri"/>
              </a:rPr>
              <a:t>Aprendizaje NO supervisado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20040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KMeans sobre 7 variables municipales (matrícula, Saber 11, ruralidad, cobertura, brechas de género).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Índice de brecha compuesto 0–100 y mapa interactivo.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Validación: silhouette (k≥3) y estabilidad ARI multi-semilla.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240280"/>
            <a:ext cx="5513832" cy="32461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2629814"/>
            <a:ext cx="82296" cy="2467051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39572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Módulo B · Riesgo académico</a:t>
            </a:r>
          </a:p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Aprendizaje SUPERVISADO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0040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15 variables sin fuga de información; 3 modelos comparados (Reg. logística, Random Forest, LightGBM).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Validación cruzada estratificada (PR-AUC por desbalance).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Interpretabilidad con SHAP y scoring por deciles de riesgo.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669280"/>
            <a:ext cx="11183112" cy="65836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69280"/>
            <a:ext cx="10515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Prototipo desplegable: app Streamlit dockerizada (puerto 8501) — pipeline 100 % reproducible.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DÓNDE ESTÁ LA MAYOR BRECHA DE ACCESO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Resultados · Módulo A (territorial)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651760" cy="118872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99616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48256"/>
            <a:ext cx="243230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tipologías de municipios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71600"/>
            <a:ext cx="2651760" cy="1188720"/>
          </a:xfrm>
          <a:prstGeom prst="roundRect">
            <a:avLst>
              <a:gd name="adj" fmla="val 4500"/>
            </a:avLst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99616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0,94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48256"/>
            <a:ext cx="243230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estabilidad ARI (silhouette 0,32)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43200"/>
            <a:ext cx="5440680" cy="306324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110788"/>
            <a:ext cx="82296" cy="2328062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077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Ranking de brecha (índice 0–100)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83280"/>
            <a:ext cx="3108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1.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Betulia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86,1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2.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Murindo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85,2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3.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Ituango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84,4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4.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Angostura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84,3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5.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Caicedo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83,8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401568"/>
            <a:ext cx="187451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22B33"/>
                </a:solidFill>
                <a:latin typeface="Calibri"/>
              </a:rPr>
              <a:t>Alta ruralidad + bajo Saber 11 + baja matrícula + poca cobertura.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22B33"/>
                </a:solidFill>
                <a:latin typeface="Calibri"/>
              </a:rPr>
              <a:t>La sede regional UdeA reduce la brecha.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8" y="1524762"/>
            <a:ext cx="5660136" cy="412851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97914"/>
            <a:ext cx="5513832" cy="39822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72200" y="5870448"/>
            <a:ext cx="5513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C6B7A"/>
                </a:solidFill>
                <a:latin typeface="Calibri"/>
              </a:rPr>
              <a:t>Municipios proyectados (PCA) y coloreados por tipología. Demo: mapa interactivo mapa_brechas.html.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A QUIÉN PRIORIZAR PARA EL ACOMPAÑAMIENTO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Resultados · Módulo B (riesgo académico)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651760" cy="132588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99616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0,87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48256"/>
            <a:ext cx="2432304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ROC-AUC en datos no vistos (reg. logística)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71600"/>
            <a:ext cx="2651760" cy="1325880"/>
          </a:xfrm>
          <a:prstGeom prst="roundRect">
            <a:avLst>
              <a:gd name="adj" fmla="val 4500"/>
            </a:avLst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99616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B3C5D"/>
                </a:solidFill>
                <a:latin typeface="Calibri"/>
              </a:rPr>
              <a:t>6,2×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48256"/>
            <a:ext cx="2432304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0B3C5D"/>
                </a:solidFill>
                <a:latin typeface="Calibri"/>
              </a:rPr>
              <a:t>lift: el decil superior captura 63 % de los casos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80360"/>
            <a:ext cx="5440680" cy="2971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236976"/>
            <a:ext cx="82296" cy="2258568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358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Factores de riesgo (SHAP)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2044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Antigüedad sin avance de nivel — el predictor más fuerte.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Facultad (Ingeniería y Educación elevan el riesgo).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Ser mujer aparece como factor protector.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El contexto municipal (ruralidad, Saber 11 local) aporta señal: la brecha territorial también se expresa dentro del aula.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42837" y="1298448"/>
            <a:ext cx="4172558" cy="3209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989" y="1371600"/>
            <a:ext cx="4026254" cy="30632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082343" y="4453128"/>
            <a:ext cx="3693545" cy="1517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g_comparacion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495" y="4526280"/>
            <a:ext cx="3547241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72200" y="5897880"/>
            <a:ext cx="5513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C6B7A"/>
                </a:solidFill>
                <a:latin typeface="Calibri"/>
              </a:rPr>
              <a:t>Arriba: importancia SHAP.  Abajo: comparación de 3 modelos (CV estratificada).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PROTOTIPO INTERACTIVO — DEL DATO AL ACOMPAÑAMIENTO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Demo · Calculadora de riesgo 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98448"/>
            <a:ext cx="5074920" cy="4480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836115"/>
            <a:ext cx="82296" cy="3405225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Formulario · Predicción individual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47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47D88"/>
                </a:solidFill>
                <a:latin typeface="Calibri"/>
              </a:rPr>
              <a:t>PERFIL ACADÉMICO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139696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139696"/>
            <a:ext cx="18379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Sexo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139696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487168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487168"/>
            <a:ext cx="18379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Sede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6" y="2487168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34640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2834640"/>
            <a:ext cx="18379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Facultad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2834640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82112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182112"/>
            <a:ext cx="18379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Tipo de aceptación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8336" y="3182112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529584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529584"/>
            <a:ext cx="18379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Naturaleza del colegio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3529584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877056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877056"/>
            <a:ext cx="18379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Nivel de pregrado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88336" y="3877056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3240" y="2139696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72968" y="2139696"/>
            <a:ext cx="19751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Edad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2487168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2487168"/>
            <a:ext cx="19751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Estrato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1496" y="2487168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3240" y="2834640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72968" y="2834640"/>
            <a:ext cx="19751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Antigüedad (sem.)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3182112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72968" y="3182112"/>
            <a:ext cx="19751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Créditos últ. sem.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63240" y="3529584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72968" y="3529584"/>
            <a:ext cx="19751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¿Vive fuera de Antioquia?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242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47D88"/>
                </a:solidFill>
                <a:latin typeface="Calibri"/>
              </a:rPr>
              <a:t>CONTEXTO DEL MUNICIPIO (AUTOCOMPLETADO)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535424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" y="4535424"/>
            <a:ext cx="18379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Municipio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8336" y="4535424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535424"/>
            <a:ext cx="960120" cy="292608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535424"/>
            <a:ext cx="960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3C5D"/>
                </a:solidFill>
                <a:latin typeface="Calibri"/>
              </a:rPr>
              <a:t>auto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488289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C6B7A"/>
                </a:solidFill>
                <a:latin typeface="Calibri"/>
              </a:rPr>
              <a:t>% rural · Saber 11 municipal · tasa de acompañamiento se completan solos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5248656"/>
            <a:ext cx="2468880" cy="402336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248656"/>
            <a:ext cx="2468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▶  Calcular riesgo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743200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1325880"/>
            <a:ext cx="5513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C6B7A"/>
                </a:solidFill>
                <a:latin typeface="Calibri"/>
              </a:rPr>
              <a:t>SALIDA DEL MODELO</a:t>
            </a:r>
            <a:r>
              <a:rPr sz="1000" b="0" i="0">
                <a:solidFill>
                  <a:srgbClr val="5C6B7A"/>
                </a:solidFill>
                <a:latin typeface="Calibri"/>
              </a:rPr>
              <a:t>   ·   modelo_riesgo.pkl → predict_proba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1719072"/>
            <a:ext cx="5513832" cy="210312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187451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Probabilidad de riesgo académico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19456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E09F2C"/>
                </a:solidFill>
                <a:latin typeface="Calibri"/>
              </a:rPr>
              <a:t>72,3 %</a:t>
            </a:r>
            <a:r>
              <a:rPr sz="1300" b="0" i="1">
                <a:solidFill>
                  <a:srgbClr val="9FB4C4"/>
                </a:solidFill>
                <a:latin typeface="Calibri"/>
              </a:rPr>
              <a:t>   (ejemplo)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3246120"/>
            <a:ext cx="1630680" cy="23774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22920" y="3246120"/>
            <a:ext cx="1630680" cy="23774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53600" y="3246120"/>
            <a:ext cx="1630680" cy="2377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13640" y="3200400"/>
            <a:ext cx="31089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529584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FB4C4"/>
                </a:solidFill>
                <a:latin typeface="Calibri"/>
              </a:rPr>
              <a:t>menor riesgo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3529584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FB4C4"/>
                </a:solidFill>
                <a:latin typeface="Calibri"/>
              </a:rPr>
              <a:t>mayor riesgo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72200" y="4023360"/>
            <a:ext cx="5513832" cy="11887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172200" y="4166006"/>
            <a:ext cx="82296" cy="903427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416052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3C5D"/>
                </a:solidFill>
                <a:latin typeface="Calibri"/>
              </a:rPr>
              <a:t>Alerta estadística, no diagnóstico individual.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100" b="0" i="0">
                <a:solidFill>
                  <a:srgbClr val="222B33"/>
                </a:solidFill>
                <a:latin typeface="Calibri"/>
              </a:rPr>
              <a:t>Cuando la probabilidad es ≥ 50 %, se lee junto con el acompañamiento humano de Bienestar.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0" y="5321808"/>
            <a:ext cx="5513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C6B7A"/>
                </a:solidFill>
                <a:latin typeface="Calibri"/>
              </a:rPr>
              <a:t>Demo en vivo durante la sustentación (app Streamlit).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5943600"/>
            <a:ext cx="11183112" cy="50292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594360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Salvaguardas:  las opciones categóricas provienen del modelo entrenado (nunca ofrece valores no vistos)   ·   el contexto municipal se autocompleta desde el Módulo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VALOR PÚBLICO Y SOSTENIBILIDAD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Impacto esperado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613001"/>
            <a:ext cx="82296" cy="1528876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Beneficiarios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93392"/>
            <a:ext cx="4983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Estudiantes de sedes regionales y municipios rurales con mayor brecha.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Equipos de Bienestar que focalizan el acompañamiento.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613001"/>
            <a:ext cx="82296" cy="1528876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Uso institucional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93392"/>
            <a:ext cx="4983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Prioriza Semestre Cero / Soñares / PIES (UdeA) y política territorial (Gobernación).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Con capacidad para el 10 % de la matrícula se cubre 2/3 del riesgo.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807561"/>
            <a:ext cx="82296" cy="1528876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Escalabilidad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87952"/>
            <a:ext cx="4983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Pipeline reproducible y app desplegable en contenedor.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Replicable a otros departamentos con las mismas fuentes abiertas.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56616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3807561"/>
            <a:ext cx="82296" cy="1528876"/>
          </a:xfrm>
          <a:prstGeom prst="roundRect">
            <a:avLst/>
          </a:prstGeom>
          <a:solidFill>
            <a:srgbClr val="165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03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Ética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87952"/>
            <a:ext cx="4983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El scoring prioriza acompañamiento, nunca restringe el acceso.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Datos anonimizados; hace explícitas las desigualdades históricas.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06440"/>
            <a:ext cx="11183112" cy="548640"/>
          </a:xfrm>
          <a:prstGeom prst="roundRect">
            <a:avLst>
              <a:gd name="adj" fmla="val 4500"/>
            </a:avLst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C5D"/>
                </a:solidFill>
                <a:latin typeface="Calibri"/>
              </a:rPr>
              <a:t>Focalización accionable: menos recursos, mejor dirigidos, con evidencia de datos abiertos.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RECURSOS PARA REVISIÓN DEL JURADO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Repositorio y validación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6949440" cy="4480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909267"/>
            <a:ext cx="82296" cy="3405225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Checklist de entregables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6446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>
                <a:solidFill>
                  <a:srgbClr val="222B33"/>
                </a:solidFill>
                <a:latin typeface="Calibri"/>
              </a:rPr>
              <a:t>Repositorio:  </a:t>
            </a:r>
            <a:r>
              <a:rPr sz="1350" b="0" i="0">
                <a:solidFill>
                  <a:srgbClr val="5C6B7A"/>
                </a:solidFill>
                <a:latin typeface="Calibri"/>
              </a:rPr>
              <a:t>[URL GitHub / GitLab del equipo]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>
                <a:solidFill>
                  <a:srgbClr val="222B33"/>
                </a:solidFill>
                <a:latin typeface="Calibri"/>
              </a:rPr>
              <a:t>Código fuente organizado:  </a:t>
            </a:r>
            <a:r>
              <a:rPr sz="1350" b="0" i="0">
                <a:solidFill>
                  <a:srgbClr val="5C6B7A"/>
                </a:solidFill>
                <a:latin typeface="Calibri"/>
              </a:rPr>
              <a:t>src/ — acquire · clean · integrate · module_a · module_b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>
                <a:solidFill>
                  <a:srgbClr val="222B33"/>
                </a:solidFill>
                <a:latin typeface="Calibri"/>
              </a:rPr>
              <a:t>Datos y enlaces oficiales:  </a:t>
            </a:r>
            <a:r>
              <a:rPr sz="1350" b="0" i="0">
                <a:solidFill>
                  <a:srgbClr val="5C6B7A"/>
                </a:solidFill>
                <a:latin typeface="Calibri"/>
              </a:rPr>
              <a:t>datos.gov.co — Saber 11, Censo, Beneficiarios, DIVIPOLA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>
                <a:solidFill>
                  <a:srgbClr val="222B33"/>
                </a:solidFill>
                <a:latin typeface="Calibri"/>
              </a:rPr>
              <a:t>Documentación técnica:  </a:t>
            </a:r>
            <a:r>
              <a:rPr sz="1350" b="0" i="0">
                <a:solidFill>
                  <a:srgbClr val="5C6B7A"/>
                </a:solidFill>
                <a:latin typeface="Calibri"/>
              </a:rPr>
              <a:t>README.md con reproducción paso a paso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>
                <a:solidFill>
                  <a:srgbClr val="222B33"/>
                </a:solidFill>
                <a:latin typeface="Calibri"/>
              </a:rPr>
              <a:t>Notebooks narrativos:  </a:t>
            </a:r>
            <a:r>
              <a:rPr sz="1350" b="0" i="0">
                <a:solidFill>
                  <a:srgbClr val="5C6B7A"/>
                </a:solidFill>
                <a:latin typeface="Calibri"/>
              </a:rPr>
              <a:t>01 limpieza · 02 módulo A · 03 módulo B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>
                <a:solidFill>
                  <a:srgbClr val="222B33"/>
                </a:solidFill>
                <a:latin typeface="Calibri"/>
              </a:rPr>
              <a:t>Demo / prototipo:  </a:t>
            </a:r>
            <a:r>
              <a:rPr sz="1350" b="0" i="0">
                <a:solidFill>
                  <a:srgbClr val="5C6B7A"/>
                </a:solidFill>
                <a:latin typeface="Calibri"/>
              </a:rPr>
              <a:t>app Streamlit dockerizada (:8501) — calculadora de riesgo individual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>
                <a:solidFill>
                  <a:srgbClr val="222B33"/>
                </a:solidFill>
                <a:latin typeface="Calibri"/>
              </a:rPr>
              <a:t>Recursos de resultados:  </a:t>
            </a:r>
            <a:r>
              <a:rPr sz="1350" b="0" i="0">
                <a:solidFill>
                  <a:srgbClr val="5C6B7A"/>
                </a:solidFill>
                <a:latin typeface="Calibri"/>
              </a:rPr>
              <a:t>outputs/ — modelo, métricas, ranking, mapa, figuras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371600"/>
            <a:ext cx="4050791" cy="448056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6916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9F2C"/>
                </a:solidFill>
                <a:latin typeface="Calibri"/>
              </a:rPr>
              <a:t>Reproducible de punta a punta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331720"/>
            <a:ext cx="3429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Python 3.12 · scikit-learn · LightGBM · SHAP · Streamlit.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Un comando por etapa regenera datos, modelos y figuras.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Imagen Docker/Podman lista para desplegar la demo.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89204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CFDDE8"/>
                </a:solidFill>
                <a:latin typeface="Calibri"/>
              </a:rPr>
              <a:t>Enlaces completos = condiciones para validar recursos, bases, código y resultados.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9F2C"/>
                </a:solidFill>
                <a:latin typeface="Calibri"/>
              </a:rPr>
              <a:t>CIERRE · VALOR DIFERENCIAL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Una sola inteligencia sobre datos abiertos:</a:t>
            </a:r>
          </a:p>
          <a:p>
            <a:pPr algn="l">
              <a:spcBef>
                <a:spcPts val="200"/>
              </a:spcBef>
            </a:pPr>
            <a:r>
              <a:rPr sz="3400" b="1" i="0">
                <a:solidFill>
                  <a:srgbClr val="E09F2C"/>
                </a:solidFill>
                <a:latin typeface="Calibri"/>
              </a:rPr>
              <a:t>del territorio al aula.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Integra el módulo territorial (dónde) y el de riesgo (a quién) en una sola herramienta accionable.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5 conjuntos integrados con cruce del 100 % y validación estadística en ambos módulos.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Reproducible y desplegable: del notebook a la app en contenedor.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32120"/>
            <a:ext cx="10543032" cy="868680"/>
          </a:xfrm>
          <a:prstGeom prst="roundRect">
            <a:avLst>
              <a:gd name="adj" fmla="val 4500"/>
            </a:avLst>
          </a:prstGeom>
          <a:solidFill>
            <a:srgbClr val="165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636361"/>
            <a:ext cx="82296" cy="660196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5321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Problema real  +  datos abiertos  +  IA  +  impacto público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