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46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gomelop/MINTIC/tree/development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777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09F2C"/>
                </a:solidFill>
                <a:latin typeface="Calibri"/>
              </a:rPr>
              <a:t>CONCURSO DATOS AL ECOSISTEMA 2026 · IA PARA COLOMBIA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6070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Del colegio a la universidad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2000" b="0" i="0">
                <a:solidFill>
                  <a:srgbClr val="CFDDE8"/>
                </a:solidFill>
                <a:latin typeface="Calibri"/>
              </a:rPr>
              <a:t>Inteligencia territorial para cerrar brechas de acceso y permanencia en la educación superior de Antioquia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77639"/>
            <a:ext cx="10515600" cy="1737360"/>
          </a:xfrm>
          <a:prstGeom prst="roundRect">
            <a:avLst>
              <a:gd name="adj" fmla="val 4500"/>
            </a:avLst>
          </a:prstGeom>
          <a:solidFill>
            <a:srgbClr val="165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4186122"/>
            <a:ext cx="82296" cy="1320393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4160520"/>
            <a:ext cx="9966960" cy="1333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 dirty="0">
                <a:solidFill>
                  <a:srgbClr val="E09F2C"/>
                </a:solidFill>
                <a:latin typeface="Calibri"/>
              </a:rPr>
              <a:t>Nivel: 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Intermedio</a:t>
            </a:r>
            <a:endParaRPr sz="14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400" b="1" i="0" dirty="0">
                <a:solidFill>
                  <a:srgbClr val="E09F2C"/>
                </a:solidFill>
                <a:latin typeface="Calibri"/>
              </a:rPr>
              <a:t>ID del </a:t>
            </a:r>
            <a:r>
              <a:rPr sz="1400" b="1" i="0" dirty="0" err="1">
                <a:solidFill>
                  <a:srgbClr val="E09F2C"/>
                </a:solidFill>
                <a:latin typeface="Calibri"/>
              </a:rPr>
              <a:t>equipo</a:t>
            </a:r>
            <a:r>
              <a:rPr sz="1400" b="1" i="0" dirty="0">
                <a:solidFill>
                  <a:srgbClr val="E09F2C"/>
                </a:solidFill>
                <a:latin typeface="Calibri"/>
              </a:rPr>
              <a:t>:  </a:t>
            </a:r>
            <a:r>
              <a:rPr lang="es-CO" sz="1400" dirty="0">
                <a:solidFill>
                  <a:srgbClr val="FFFFFF"/>
                </a:solidFill>
                <a:latin typeface="Calibri"/>
              </a:rPr>
              <a:t>140</a:t>
            </a:r>
            <a:endParaRPr sz="1400" b="0" i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sz="1400" b="1" i="0" dirty="0" err="1">
                <a:solidFill>
                  <a:srgbClr val="E09F2C"/>
                </a:solidFill>
                <a:latin typeface="Calibri"/>
              </a:rPr>
              <a:t>Integrantes</a:t>
            </a:r>
            <a:r>
              <a:rPr sz="1400" b="1" i="0" dirty="0">
                <a:solidFill>
                  <a:srgbClr val="E09F2C"/>
                </a:solidFill>
                <a:latin typeface="Calibri"/>
              </a:rPr>
              <a:t>:  </a:t>
            </a:r>
            <a:r>
              <a:rPr lang="es-CO" sz="1400" b="0" i="0" dirty="0">
                <a:solidFill>
                  <a:srgbClr val="FFFFFF"/>
                </a:solidFill>
                <a:latin typeface="Calibri"/>
              </a:rPr>
              <a:t>Alexander Tapias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· </a:t>
            </a:r>
            <a:r>
              <a:rPr lang="es-CO" sz="1400" b="0" i="0" dirty="0">
                <a:solidFill>
                  <a:srgbClr val="FFFFFF"/>
                </a:solidFill>
                <a:latin typeface="Calibri"/>
              </a:rPr>
              <a:t>Estefanía Garcés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· </a:t>
            </a:r>
            <a:r>
              <a:rPr lang="es-CO" sz="1400" dirty="0">
                <a:solidFill>
                  <a:srgbClr val="FFFFFF"/>
                </a:solidFill>
              </a:rPr>
              <a:t>Francisco Borrero · Juan Pablo Gómez</a:t>
            </a:r>
            <a:endParaRPr sz="14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400" b="1" i="0" dirty="0" err="1">
                <a:solidFill>
                  <a:srgbClr val="E09F2C"/>
                </a:solidFill>
                <a:latin typeface="Calibri"/>
              </a:rPr>
              <a:t>Institución</a:t>
            </a:r>
            <a:r>
              <a:rPr sz="1400" b="1" i="0" dirty="0">
                <a:solidFill>
                  <a:srgbClr val="E09F2C"/>
                </a:solidFill>
                <a:latin typeface="Calibri"/>
              </a:rPr>
              <a:t>: 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[Universidad /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entidad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]</a:t>
            </a:r>
          </a:p>
          <a:p>
            <a:pPr algn="l">
              <a:spcAft>
                <a:spcPts val="500"/>
              </a:spcAft>
            </a:pPr>
            <a:r>
              <a:rPr sz="1400" b="1" i="0" dirty="0" err="1">
                <a:solidFill>
                  <a:srgbClr val="E09F2C"/>
                </a:solidFill>
                <a:latin typeface="Calibri"/>
              </a:rPr>
              <a:t>Fecha</a:t>
            </a:r>
            <a:r>
              <a:rPr sz="1400" b="1" i="0" dirty="0">
                <a:solidFill>
                  <a:srgbClr val="E09F2C"/>
                </a:solidFill>
                <a:latin typeface="Calibri"/>
              </a:rPr>
              <a:t> de </a:t>
            </a:r>
            <a:r>
              <a:rPr sz="1400" b="1" i="0" dirty="0" err="1">
                <a:solidFill>
                  <a:srgbClr val="E09F2C"/>
                </a:solidFill>
                <a:latin typeface="Calibri"/>
              </a:rPr>
              <a:t>sustentación</a:t>
            </a:r>
            <a:r>
              <a:rPr sz="1400" b="1" i="0" dirty="0">
                <a:solidFill>
                  <a:srgbClr val="E09F2C"/>
                </a:solidFill>
                <a:latin typeface="Calibri"/>
              </a:rPr>
              <a:t>:  </a:t>
            </a:r>
            <a:r>
              <a:rPr lang="es-CO" sz="1400" dirty="0">
                <a:solidFill>
                  <a:srgbClr val="FFFFFF"/>
                </a:solidFill>
                <a:latin typeface="Calibri"/>
              </a:rPr>
              <a:t>22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/</a:t>
            </a:r>
            <a:r>
              <a:rPr lang="es-CO" sz="1400" dirty="0">
                <a:solidFill>
                  <a:srgbClr val="FFFFFF"/>
                </a:solidFill>
                <a:latin typeface="Calibri"/>
              </a:rPr>
              <a:t>07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126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9FB4C4"/>
                </a:solidFill>
                <a:latin typeface="Calibri"/>
              </a:rPr>
              <a:t>Datos abiertos + IA + impacto público  ·  Repositorio y app desplegable incluidos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NECESIDAD PÚBLICA Y TERRITORIAL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Problema y objetivo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5532120" cy="356616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1799539"/>
            <a:ext cx="82296" cy="2710281"/>
          </a:xfrm>
          <a:prstGeom prst="round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15544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B3C5D"/>
                </a:solidFill>
                <a:latin typeface="Calibri"/>
              </a:rPr>
              <a:t>El problema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0574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22B33"/>
                </a:solidFill>
                <a:latin typeface="Calibri"/>
              </a:rPr>
              <a:t>En Antioquia el acceso y la permanencia en educación superior son muy desiguales entre municipios urbanos y rurales.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22B33"/>
                </a:solidFill>
                <a:latin typeface="Calibri"/>
              </a:rPr>
              <a:t>No hay una focalización basada en datos que conecte el territorio (de dónde viene el estudiante) con el aula (cómo le va).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22B33"/>
                </a:solidFill>
                <a:latin typeface="Calibri"/>
              </a:rPr>
              <a:t>El acompañamiento institucional (Semestre Cero, Soñares, PIES) tiene capacidad limitada y necesita priorizar a quién atiende.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71600"/>
            <a:ext cx="5513832" cy="356616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72200" y="1799539"/>
            <a:ext cx="82296" cy="2710281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B3C5D"/>
                </a:solidFill>
                <a:latin typeface="Calibri"/>
              </a:rPr>
              <a:t>El objetivo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574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22B33"/>
                </a:solidFill>
                <a:latin typeface="Calibri"/>
              </a:rPr>
              <a:t>Identificar los municipios con mayor brecha de acceso (módulo territorial no supervisado).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22B33"/>
                </a:solidFill>
                <a:latin typeface="Calibri"/>
              </a:rPr>
              <a:t>Detectar tempranamente a los estudiantes con mayor riesgo académico (módulo supervisado).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22B33"/>
                </a:solidFill>
                <a:latin typeface="Calibri"/>
              </a:rPr>
              <a:t>Entregar insumos accionables para priorizar el acompañamiento, con datos abiertos + IA de forma reproducible.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166360"/>
            <a:ext cx="11183112" cy="114300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166360"/>
            <a:ext cx="1051560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Problema real  +  datos abiertos  +  IA  +  impacto público</a:t>
            </a:r>
          </a:p>
          <a:p>
            <a:pPr algn="l">
              <a:spcBef>
                <a:spcPts val="400"/>
              </a:spcBef>
            </a:pPr>
            <a:r>
              <a:rPr sz="1300" b="0" i="1">
                <a:solidFill>
                  <a:srgbClr val="CFDDE8"/>
                </a:solidFill>
                <a:latin typeface="Calibri"/>
              </a:rPr>
              <a:t>una sola herramienta reproducible que va del territorio al aula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FUENTES, VARIABLES Y TRATAMIENTO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Datos abiertos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371600"/>
          <a:ext cx="7406639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7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Conjunto</a:t>
                      </a:r>
                    </a:p>
                  </a:txBody>
                  <a:tcPr marR="54864" marT="27432" marB="27432" anchor="ctr"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marR="54864" marT="27432" marB="27432" anchor="ctr"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Registros</a:t>
                      </a:r>
                    </a:p>
                  </a:txBody>
                  <a:tcPr marR="54864" marT="27432" marB="27432" anchor="ctr">
                    <a:solidFill>
                      <a:srgbClr val="0B3C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Matrícula UdeA — sedes regionales 2026-1</a:t>
                      </a:r>
                    </a:p>
                  </a:txBody>
                  <a:tcPr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Universidad de Antioquia</a:t>
                      </a:r>
                    </a:p>
                  </a:txBody>
                  <a:tcPr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8.157</a:t>
                      </a:r>
                    </a:p>
                  </a:txBody>
                  <a:tcPr marR="54864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Beneficiarios de acompañamiento</a:t>
                      </a:r>
                    </a:p>
                  </a:txBody>
                  <a:tcPr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datos.gov.co · Gob. Antioquia</a:t>
                      </a:r>
                    </a:p>
                  </a:txBody>
                  <a:tcPr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13.778</a:t>
                      </a:r>
                    </a:p>
                  </a:txBody>
                  <a:tcPr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Población censada 2018</a:t>
                      </a:r>
                    </a:p>
                  </a:txBody>
                  <a:tcPr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datos.gov.co · DANE</a:t>
                      </a:r>
                    </a:p>
                  </a:txBody>
                  <a:tcPr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12.825</a:t>
                      </a:r>
                    </a:p>
                  </a:txBody>
                  <a:tcPr marR="54864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Saber 11 — ICFES (2018+)</a:t>
                      </a:r>
                    </a:p>
                  </a:txBody>
                  <a:tcPr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datos.gov.co · ICFES (API)</a:t>
                      </a:r>
                    </a:p>
                  </a:txBody>
                  <a:tcPr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297.962</a:t>
                      </a:r>
                    </a:p>
                  </a:txBody>
                  <a:tcPr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DIVIPOLA — municipios</a:t>
                      </a:r>
                    </a:p>
                  </a:txBody>
                  <a:tcPr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datos.gov.co · DANE (API)</a:t>
                      </a:r>
                    </a:p>
                  </a:txBody>
                  <a:tcPr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1.122</a:t>
                      </a:r>
                    </a:p>
                  </a:txBody>
                  <a:tcPr marR="54864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092440" y="1371600"/>
            <a:ext cx="3593592" cy="338328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92440" y="1777593"/>
            <a:ext cx="82296" cy="2571292"/>
          </a:xfrm>
          <a:prstGeom prst="round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5361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3C5D"/>
                </a:solidFill>
                <a:latin typeface="Calibri"/>
              </a:rPr>
              <a:t>Integración y calidad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011680"/>
            <a:ext cx="306324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Llave común: código DANE de municipio (5 dígitos) — 125 municipios integrados.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Cruce del 100 % (auditoría difusa de nombres con rapidfuzz).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Limpieza: mojibake (ftfy), fechas mixtas y API Socrata paginada.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Matrices analíticas: 125×26 (municipal) y 8.157×23 (estudiantes).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029200"/>
            <a:ext cx="3566160" cy="123444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515721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E09F2C"/>
                </a:solidFill>
                <a:latin typeface="Calibri"/>
              </a:rPr>
              <a:t>4 /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705856"/>
            <a:ext cx="3346704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conjuntos provienen de datos.gov.co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5029200"/>
            <a:ext cx="3566160" cy="1234440"/>
          </a:xfrm>
          <a:prstGeom prst="roundRect">
            <a:avLst>
              <a:gd name="adj" fmla="val 4500"/>
            </a:avLst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15968" y="515721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~334 mil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5705856"/>
            <a:ext cx="3346704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registros integrados de 5 fuentes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5029200"/>
            <a:ext cx="3547872" cy="123444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0" y="5157216"/>
            <a:ext cx="354787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E09F2C"/>
                </a:solidFill>
                <a:latin typeface="Calibri"/>
              </a:rPr>
              <a:t>100 %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5705856"/>
            <a:ext cx="3328416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de cruce por código DANE de municipio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FUNCIONAMIENTO Y COMPONENTE TÉCNICO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Solución e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2468880" cy="566928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371600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acquire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371600"/>
            <a:ext cx="3840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E09F2C"/>
                </a:solidFill>
                <a:latin typeface="Calibri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371600"/>
            <a:ext cx="2468880" cy="566928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55848" y="1371600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4728" y="1371600"/>
            <a:ext cx="3840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E09F2C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371600"/>
            <a:ext cx="2468880" cy="566928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08776" y="1371600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integrate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7656" y="1371600"/>
            <a:ext cx="3840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E09F2C"/>
                </a:solidFill>
                <a:latin typeface="Calibri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371600"/>
            <a:ext cx="2468880" cy="566928"/>
          </a:xfrm>
          <a:prstGeom prst="roundRect">
            <a:avLst>
              <a:gd name="adj" fmla="val 4500"/>
            </a:avLst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61704" y="1371600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module A /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371600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5C6B7A"/>
                </a:solidFill>
                <a:latin typeface="Calibri"/>
              </a:rPr>
              <a:t>Pipeline reproducible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240280"/>
            <a:ext cx="5532120" cy="324612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02920" y="2629814"/>
            <a:ext cx="82296" cy="2467051"/>
          </a:xfrm>
          <a:prstGeom prst="round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239572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3C5D"/>
                </a:solidFill>
                <a:latin typeface="Calibri"/>
              </a:rPr>
              <a:t>Módulo A · Tipologías territoriales</a:t>
            </a:r>
          </a:p>
          <a:p>
            <a:pPr algn="l"/>
            <a:r>
              <a:rPr sz="1100" b="1" i="0">
                <a:solidFill>
                  <a:srgbClr val="147D88"/>
                </a:solidFill>
                <a:latin typeface="Calibri"/>
              </a:rPr>
              <a:t>Aprendizaje NO supervisado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200400"/>
            <a:ext cx="50292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>KMeans sobre 7 variables municipales (matrícula, Saber 11, ruralidad, cobertura, brechas de género).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>Índice de brecha compuesto 0–100 y mapa interactivo.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>Validación: silhouette (k≥3) y estabilidad ARI multi-semilla.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240280"/>
            <a:ext cx="5513832" cy="324612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172200" y="2629814"/>
            <a:ext cx="82296" cy="2467051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239572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3C5D"/>
                </a:solidFill>
                <a:latin typeface="Calibri"/>
              </a:rPr>
              <a:t>Módulo B · Riesgo académico</a:t>
            </a:r>
          </a:p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Aprendizaje SUPERVISADO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200400"/>
            <a:ext cx="50292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>15 variables sin fuga de información; 3 modelos comparados (Reg. logística, Random Forest, LightGBM).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>Validación cruzada estratificada (PR-AUC por desbalance).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>Interpretabilidad con SHAP y scoring por deciles de riesgo.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669280"/>
            <a:ext cx="11183112" cy="658368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5669280"/>
            <a:ext cx="10515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Prototipo desplegable: app Streamlit dockerizada (puerto 8501) — pipeline 100 % reproducible.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DÓNDE ESTÁ LA MAYOR BRECHA DE ACCESO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Resultados · Módulo A (territorial)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2651760" cy="118872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499616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E09F2C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048256"/>
            <a:ext cx="243230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tipologías de municipios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371600"/>
            <a:ext cx="2651760" cy="1188720"/>
          </a:xfrm>
          <a:prstGeom prst="roundRect">
            <a:avLst>
              <a:gd name="adj" fmla="val 4500"/>
            </a:avLst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1499616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0,94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048256"/>
            <a:ext cx="243230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estabilidad ARI (silhouette 0,32)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743200"/>
            <a:ext cx="5440680" cy="306324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920" y="3110788"/>
            <a:ext cx="82296" cy="2328062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290779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3C5D"/>
                </a:solidFill>
                <a:latin typeface="Calibri"/>
              </a:rPr>
              <a:t>Ranking de brecha (índice 0–100)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3832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09F2C"/>
                </a:solidFill>
                <a:latin typeface="Calibri"/>
              </a:rPr>
              <a:t>1.  </a:t>
            </a:r>
            <a:r>
              <a:rPr sz="1400" b="1" i="0">
                <a:solidFill>
                  <a:srgbClr val="222B33"/>
                </a:solidFill>
                <a:latin typeface="Calibri"/>
              </a:rPr>
              <a:t>Betulia</a:t>
            </a:r>
            <a:r>
              <a:rPr sz="1400" b="1" i="0">
                <a:solidFill>
                  <a:srgbClr val="147D88"/>
                </a:solidFill>
                <a:latin typeface="Calibri"/>
              </a:rPr>
              <a:t>   86,1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09F2C"/>
                </a:solidFill>
                <a:latin typeface="Calibri"/>
              </a:rPr>
              <a:t>2.  </a:t>
            </a:r>
            <a:r>
              <a:rPr sz="1400" b="1" i="0">
                <a:solidFill>
                  <a:srgbClr val="222B33"/>
                </a:solidFill>
                <a:latin typeface="Calibri"/>
              </a:rPr>
              <a:t>Murindo</a:t>
            </a:r>
            <a:r>
              <a:rPr sz="1400" b="1" i="0">
                <a:solidFill>
                  <a:srgbClr val="147D88"/>
                </a:solidFill>
                <a:latin typeface="Calibri"/>
              </a:rPr>
              <a:t>   85,2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09F2C"/>
                </a:solidFill>
                <a:latin typeface="Calibri"/>
              </a:rPr>
              <a:t>3.  </a:t>
            </a:r>
            <a:r>
              <a:rPr sz="1400" b="1" i="0">
                <a:solidFill>
                  <a:srgbClr val="222B33"/>
                </a:solidFill>
                <a:latin typeface="Calibri"/>
              </a:rPr>
              <a:t>Ituango</a:t>
            </a:r>
            <a:r>
              <a:rPr sz="1400" b="1" i="0">
                <a:solidFill>
                  <a:srgbClr val="147D88"/>
                </a:solidFill>
                <a:latin typeface="Calibri"/>
              </a:rPr>
              <a:t>   84,4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09F2C"/>
                </a:solidFill>
                <a:latin typeface="Calibri"/>
              </a:rPr>
              <a:t>4.  </a:t>
            </a:r>
            <a:r>
              <a:rPr sz="1400" b="1" i="0">
                <a:solidFill>
                  <a:srgbClr val="222B33"/>
                </a:solidFill>
                <a:latin typeface="Calibri"/>
              </a:rPr>
              <a:t>Angostura</a:t>
            </a:r>
            <a:r>
              <a:rPr sz="1400" b="1" i="0">
                <a:solidFill>
                  <a:srgbClr val="147D88"/>
                </a:solidFill>
                <a:latin typeface="Calibri"/>
              </a:rPr>
              <a:t>   84,3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09F2C"/>
                </a:solidFill>
                <a:latin typeface="Calibri"/>
              </a:rPr>
              <a:t>5.  </a:t>
            </a:r>
            <a:r>
              <a:rPr sz="1400" b="1" i="0">
                <a:solidFill>
                  <a:srgbClr val="222B33"/>
                </a:solidFill>
                <a:latin typeface="Calibri"/>
              </a:rPr>
              <a:t>Caicedo</a:t>
            </a:r>
            <a:r>
              <a:rPr sz="1400" b="1" i="0">
                <a:solidFill>
                  <a:srgbClr val="147D88"/>
                </a:solidFill>
                <a:latin typeface="Calibri"/>
              </a:rPr>
              <a:t>   83,8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3401568"/>
            <a:ext cx="1874519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22B33"/>
                </a:solidFill>
                <a:latin typeface="Calibri"/>
              </a:rPr>
              <a:t>Alta ruralidad + bajo Saber 11 + baja matrícula + poca cobertura.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22B33"/>
                </a:solidFill>
                <a:latin typeface="Calibri"/>
              </a:rPr>
              <a:t>La sede regional UdeA reduce la brecha.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9048" y="1524762"/>
            <a:ext cx="5660136" cy="412851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fig_pca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97914"/>
            <a:ext cx="5513832" cy="398221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72200" y="5870448"/>
            <a:ext cx="55138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C6B7A"/>
                </a:solidFill>
                <a:latin typeface="Calibri"/>
              </a:rPr>
              <a:t>Municipios proyectados (PCA) y coloreados por tipología. Demo: mapa interactivo mapa_brechas.html.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A QUIÉN PRIORIZAR PARA EL ACOMPAÑAMIENTO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Resultados · Módulo B (riesgo académico)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2651760" cy="132588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499616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E09F2C"/>
                </a:solidFill>
                <a:latin typeface="Calibri"/>
              </a:rPr>
              <a:t>0,87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048256"/>
            <a:ext cx="2432304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ROC-AUC en datos no vistos (reg. logística)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371600"/>
            <a:ext cx="2651760" cy="1325880"/>
          </a:xfrm>
          <a:prstGeom prst="roundRect">
            <a:avLst>
              <a:gd name="adj" fmla="val 4500"/>
            </a:avLst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1499616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0B3C5D"/>
                </a:solidFill>
                <a:latin typeface="Calibri"/>
              </a:rPr>
              <a:t>6,2×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048256"/>
            <a:ext cx="2432304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0B3C5D"/>
                </a:solidFill>
                <a:latin typeface="Calibri"/>
              </a:rPr>
              <a:t>lift: el decil superior captura 63 % de los casos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880360"/>
            <a:ext cx="5440680" cy="297180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920" y="3236976"/>
            <a:ext cx="82296" cy="2258568"/>
          </a:xfrm>
          <a:prstGeom prst="round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03580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3C5D"/>
                </a:solidFill>
                <a:latin typeface="Calibri"/>
              </a:rPr>
              <a:t>Factores de riesgo (SHAP)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520440"/>
            <a:ext cx="49834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22B33"/>
                </a:solidFill>
                <a:latin typeface="Calibri"/>
              </a:rPr>
              <a:t>Antigüedad sin avance de nivel — el predictor más fuerte.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22B33"/>
                </a:solidFill>
                <a:latin typeface="Calibri"/>
              </a:rPr>
              <a:t>Facultad (Ingeniería y Educación elevan el riesgo).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22B33"/>
                </a:solidFill>
                <a:latin typeface="Calibri"/>
              </a:rPr>
              <a:t>Ser mujer aparece como factor protector.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22B33"/>
                </a:solidFill>
                <a:latin typeface="Calibri"/>
              </a:rPr>
              <a:t>El contexto municipal (ruralidad, Saber 11 local) aporta señal: la brecha territorial también se expresa dentro del aula.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42837" y="1298448"/>
            <a:ext cx="4172558" cy="3209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ig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989" y="1371600"/>
            <a:ext cx="4026254" cy="306324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082343" y="4453128"/>
            <a:ext cx="3693545" cy="15179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fig_comparacion_model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495" y="4526280"/>
            <a:ext cx="3547241" cy="1371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172200" y="5897880"/>
            <a:ext cx="5513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5C6B7A"/>
                </a:solidFill>
                <a:latin typeface="Calibri"/>
              </a:rPr>
              <a:t>Arriba: importancia SHAP.  Abajo: comparación de 3 modelos (CV estratificada).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PROTOTIPO INTERACTIVO — DEL DATO AL ACOMPAÑAMIENTO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Demo · Calculadora de riesgo académico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298448"/>
            <a:ext cx="5074920" cy="448056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1836115"/>
            <a:ext cx="82296" cy="3405225"/>
          </a:xfrm>
          <a:prstGeom prst="round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14173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3C5D"/>
                </a:solidFill>
                <a:latin typeface="Calibri"/>
              </a:rPr>
              <a:t>Formulario · Predicción individual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847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7D88"/>
                </a:solidFill>
                <a:latin typeface="Calibri"/>
              </a:rPr>
              <a:t>PERFIL ACADÉMICO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139696"/>
            <a:ext cx="214884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2139696"/>
            <a:ext cx="183794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Sexo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8336" y="2139696"/>
            <a:ext cx="182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487168"/>
            <a:ext cx="214884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2487168"/>
            <a:ext cx="183794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Sede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8336" y="2487168"/>
            <a:ext cx="182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2834640"/>
            <a:ext cx="214884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2834640"/>
            <a:ext cx="183794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Facultad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8336" y="2834640"/>
            <a:ext cx="182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182112"/>
            <a:ext cx="214884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3182112"/>
            <a:ext cx="183794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Tipo de aceptación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88336" y="3182112"/>
            <a:ext cx="182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529584"/>
            <a:ext cx="214884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6968" y="3529584"/>
            <a:ext cx="183794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Naturaleza del colegio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3529584"/>
            <a:ext cx="182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3877056"/>
            <a:ext cx="214884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6968" y="3877056"/>
            <a:ext cx="183794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Nivel de pregrado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88336" y="3877056"/>
            <a:ext cx="182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63240" y="2139696"/>
            <a:ext cx="228600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172968" y="2139696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Edad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63240" y="2487168"/>
            <a:ext cx="228600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72968" y="2487168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Estrato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11496" y="2487168"/>
            <a:ext cx="182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63240" y="2834640"/>
            <a:ext cx="228600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172968" y="2834640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Antigüedad (sem.)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63240" y="3182112"/>
            <a:ext cx="228600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172968" y="3182112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Créditos últ. sem.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63240" y="3529584"/>
            <a:ext cx="228600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72968" y="3529584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¿Vive fuera de Antioquia?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4242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7D88"/>
                </a:solidFill>
                <a:latin typeface="Calibri"/>
              </a:rPr>
              <a:t>CONTEXTO DEL MUNICIPIO (AUTOCOMPLETADO)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4535424"/>
            <a:ext cx="214884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86968" y="4535424"/>
            <a:ext cx="183794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Municipio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88336" y="4535424"/>
            <a:ext cx="182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63240" y="4535424"/>
            <a:ext cx="960120" cy="292608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063240" y="4535424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3C5D"/>
                </a:solidFill>
                <a:latin typeface="Calibri"/>
              </a:rPr>
              <a:t>auto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4882896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C6B7A"/>
                </a:solidFill>
                <a:latin typeface="Calibri"/>
              </a:rPr>
              <a:t>% rural · Saber 11 municipal · tasa de acompañamiento se completan solos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" y="5248656"/>
            <a:ext cx="2468880" cy="402336"/>
          </a:xfrm>
          <a:prstGeom prst="round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7240" y="5248656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▶  Calcular riesgo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4688" y="2743200"/>
            <a:ext cx="6858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E09F2C"/>
                </a:solidFill>
                <a:latin typeface="Calibri"/>
              </a:rPr>
              <a:t>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1325880"/>
            <a:ext cx="5513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C6B7A"/>
                </a:solidFill>
                <a:latin typeface="Calibri"/>
              </a:rPr>
              <a:t>SALIDA DEL MODELO</a:t>
            </a:r>
            <a:r>
              <a:rPr sz="1000" b="0" i="0">
                <a:solidFill>
                  <a:srgbClr val="5C6B7A"/>
                </a:solidFill>
                <a:latin typeface="Calibri"/>
              </a:rPr>
              <a:t>   ·   modelo_riesgo.pkl → predict_proba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72200" y="1719072"/>
            <a:ext cx="5513832" cy="210312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92240" y="1874519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Probabilidad de riesgo académico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2194560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 i="0">
                <a:solidFill>
                  <a:srgbClr val="E09F2C"/>
                </a:solidFill>
                <a:latin typeface="Calibri"/>
              </a:rPr>
              <a:t>72,3 %</a:t>
            </a:r>
            <a:r>
              <a:rPr sz="1300" b="0" i="1">
                <a:solidFill>
                  <a:srgbClr val="9FB4C4"/>
                </a:solidFill>
                <a:latin typeface="Calibri"/>
              </a:rPr>
              <a:t>   (ejemplo)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0" y="3246120"/>
            <a:ext cx="1630680" cy="23774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22920" y="3246120"/>
            <a:ext cx="1630680" cy="23774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753600" y="3246120"/>
            <a:ext cx="1630680" cy="23774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0013640" y="3200400"/>
            <a:ext cx="31089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92240" y="3529584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FB4C4"/>
                </a:solidFill>
                <a:latin typeface="Calibri"/>
              </a:rPr>
              <a:t>menor riesgo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06840" y="3529584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9FB4C4"/>
                </a:solidFill>
                <a:latin typeface="Calibri"/>
              </a:rPr>
              <a:t>mayor riesgo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72200" y="4023360"/>
            <a:ext cx="5513832" cy="118872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6172200" y="4166006"/>
            <a:ext cx="82296" cy="903427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92240" y="4160520"/>
            <a:ext cx="50292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B3C5D"/>
                </a:solidFill>
                <a:latin typeface="Calibri"/>
              </a:rPr>
              <a:t>Alerta estadística, no diagnóstico individual.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100" b="0" i="0">
                <a:solidFill>
                  <a:srgbClr val="222B33"/>
                </a:solidFill>
                <a:latin typeface="Calibri"/>
              </a:rPr>
              <a:t>Cuando la probabilidad es ≥ 50 %, se lee junto con el acompañamiento humano de Bienestar.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72200" y="5321808"/>
            <a:ext cx="5513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C6B7A"/>
                </a:solidFill>
                <a:latin typeface="Calibri"/>
              </a:rPr>
              <a:t>Demo en vivo durante la sustentación (app Streamlit).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920" y="5943600"/>
            <a:ext cx="11183112" cy="50292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22960" y="594360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Salvaguardas:  las opciones categóricas provienen del modelo entrenado (nunca ofrece valores no vistos)   ·   el contexto municipal se autocompleta desde el Módulo 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VALOR PÚBLICO Y SOSTENIBILIDAD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Impacto esperado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5513832" cy="201168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1613001"/>
            <a:ext cx="82296" cy="1528876"/>
          </a:xfrm>
          <a:prstGeom prst="round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15087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3C5D"/>
                </a:solidFill>
                <a:latin typeface="Calibri"/>
              </a:rPr>
              <a:t>Beneficiarios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93392"/>
            <a:ext cx="4983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Estudiantes de sedes regionales y municipios rurales con mayor brecha.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Equipos de Bienestar que focalizan el acompañamiento.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71600"/>
            <a:ext cx="5513832" cy="201168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72200" y="1613001"/>
            <a:ext cx="82296" cy="1528876"/>
          </a:xfrm>
          <a:prstGeom prst="round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5087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3C5D"/>
                </a:solidFill>
                <a:latin typeface="Calibri"/>
              </a:rPr>
              <a:t>Uso institucional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93392"/>
            <a:ext cx="4983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Prioriza Semestre Cero / Soñares / PIES (UdeA) y política territorial (Gobernación).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Con capacidad para el 10 % de la matrícula se cubre 2/3 del riesgo.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66160"/>
            <a:ext cx="5513832" cy="201168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02920" y="3807561"/>
            <a:ext cx="82296" cy="1528876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7033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3C5D"/>
                </a:solidFill>
                <a:latin typeface="Calibri"/>
              </a:rPr>
              <a:t>Escalabilidad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87952"/>
            <a:ext cx="4983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Pipeline reproducible y app desplegable en contenedor.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Replicable a otros departamentos con las mismas fuentes abiertas.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566160"/>
            <a:ext cx="5513832" cy="201168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72200" y="3807561"/>
            <a:ext cx="82296" cy="1528876"/>
          </a:xfrm>
          <a:prstGeom prst="roundRect">
            <a:avLst/>
          </a:prstGeom>
          <a:solidFill>
            <a:srgbClr val="165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37033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3C5D"/>
                </a:solidFill>
                <a:latin typeface="Calibri"/>
              </a:rPr>
              <a:t>Ética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187952"/>
            <a:ext cx="4983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El scoring prioriza acompañamiento, nunca restringe el acceso.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Datos anonimizados; hace explícitas las desigualdades históricas.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806440"/>
            <a:ext cx="11183112" cy="548640"/>
          </a:xfrm>
          <a:prstGeom prst="roundRect">
            <a:avLst>
              <a:gd name="adj" fmla="val 4500"/>
            </a:avLst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B3C5D"/>
                </a:solidFill>
                <a:latin typeface="Calibri"/>
              </a:rPr>
              <a:t>Focalización accionable: menos recursos, mejor dirigidos, con evidencia de datos abiertos.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RECURSOS PARA REVISIÓN DEL JURADO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Repositorio y validación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6949440" cy="448056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1909267"/>
            <a:ext cx="82296" cy="3405225"/>
          </a:xfrm>
          <a:prstGeom prst="round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15544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B3C5D"/>
                </a:solidFill>
                <a:latin typeface="Calibri"/>
              </a:rPr>
              <a:t>Checklist de entregables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103120"/>
            <a:ext cx="6446520" cy="2200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 dirty="0">
                <a:solidFill>
                  <a:srgbClr val="147D88"/>
                </a:solidFill>
                <a:latin typeface="Calibri"/>
              </a:rPr>
              <a:t>✔  </a:t>
            </a:r>
            <a:r>
              <a:rPr sz="1350" b="1" i="0" dirty="0" err="1">
                <a:solidFill>
                  <a:srgbClr val="222B33"/>
                </a:solidFill>
                <a:latin typeface="Calibri"/>
              </a:rPr>
              <a:t>Repositorio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:  </a:t>
            </a:r>
            <a:r>
              <a:rPr lang="es-CO" sz="1400" dirty="0" err="1">
                <a:hlinkClick r:id="rId2"/>
              </a:rPr>
              <a:t>jgomelop</a:t>
            </a:r>
            <a:r>
              <a:rPr lang="es-CO" sz="1400" dirty="0">
                <a:hlinkClick r:id="rId2"/>
              </a:rPr>
              <a:t>/MINTIC at </a:t>
            </a:r>
            <a:r>
              <a:rPr lang="es-CO" sz="1400" dirty="0" err="1">
                <a:hlinkClick r:id="rId2"/>
              </a:rPr>
              <a:t>development</a:t>
            </a:r>
            <a:endParaRPr lang="es-CO" sz="1400" dirty="0"/>
          </a:p>
          <a:p>
            <a:pPr>
              <a:spcAft>
                <a:spcPts val="900"/>
              </a:spcAft>
            </a:pPr>
            <a:r>
              <a:rPr sz="1400" b="1" i="0" dirty="0">
                <a:solidFill>
                  <a:srgbClr val="147D88"/>
                </a:solidFill>
                <a:latin typeface="Calibri"/>
              </a:rPr>
              <a:t>✔  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Código </a:t>
            </a:r>
            <a:r>
              <a:rPr sz="1350" b="1" i="0" dirty="0" err="1">
                <a:solidFill>
                  <a:srgbClr val="222B33"/>
                </a:solidFill>
                <a:latin typeface="Calibri"/>
              </a:rPr>
              <a:t>fuente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222B33"/>
                </a:solidFill>
                <a:latin typeface="Calibri"/>
              </a:rPr>
              <a:t>organizado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: 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src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/ — acquire · clean · integrate ·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module_a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 ·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module_b</a:t>
            </a:r>
            <a:endParaRPr sz="1350" b="0" i="0" dirty="0">
              <a:solidFill>
                <a:srgbClr val="5C6B7A"/>
              </a:solidFill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sz="1400" b="1" i="0" dirty="0">
                <a:solidFill>
                  <a:srgbClr val="147D88"/>
                </a:solidFill>
                <a:latin typeface="Calibri"/>
              </a:rPr>
              <a:t>✔  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Datos y enlaces </a:t>
            </a:r>
            <a:r>
              <a:rPr sz="1350" b="1" i="0" dirty="0" err="1">
                <a:solidFill>
                  <a:srgbClr val="222B33"/>
                </a:solidFill>
                <a:latin typeface="Calibri"/>
              </a:rPr>
              <a:t>oficiales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:  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datos.gov.co — Saber 11, Censo,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Beneficiarios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, DIVIPOLA</a:t>
            </a:r>
          </a:p>
          <a:p>
            <a:pPr algn="l">
              <a:spcAft>
                <a:spcPts val="900"/>
              </a:spcAft>
            </a:pPr>
            <a:r>
              <a:rPr sz="1400" b="1" i="0" dirty="0">
                <a:solidFill>
                  <a:srgbClr val="147D88"/>
                </a:solidFill>
                <a:latin typeface="Calibri"/>
              </a:rPr>
              <a:t>✔  </a:t>
            </a:r>
            <a:r>
              <a:rPr sz="1350" b="1" i="0" dirty="0" err="1">
                <a:solidFill>
                  <a:srgbClr val="222B33"/>
                </a:solidFill>
                <a:latin typeface="Calibri"/>
              </a:rPr>
              <a:t>Documentación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222B33"/>
                </a:solidFill>
                <a:latin typeface="Calibri"/>
              </a:rPr>
              <a:t>técnica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:  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README.md con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reproducción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 paso a paso</a:t>
            </a:r>
          </a:p>
          <a:p>
            <a:pPr algn="l">
              <a:spcAft>
                <a:spcPts val="900"/>
              </a:spcAft>
            </a:pPr>
            <a:r>
              <a:rPr sz="1400" b="1" i="0" dirty="0">
                <a:solidFill>
                  <a:srgbClr val="147D88"/>
                </a:solidFill>
                <a:latin typeface="Calibri"/>
              </a:rPr>
              <a:t>✔  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Notebooks </a:t>
            </a:r>
            <a:r>
              <a:rPr sz="1350" b="1" i="0" dirty="0" err="1">
                <a:solidFill>
                  <a:srgbClr val="222B33"/>
                </a:solidFill>
                <a:latin typeface="Calibri"/>
              </a:rPr>
              <a:t>narrativos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:  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01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limpieza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 · 02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módulo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 A · 03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módulo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 B</a:t>
            </a:r>
          </a:p>
          <a:p>
            <a:pPr algn="l">
              <a:spcAft>
                <a:spcPts val="900"/>
              </a:spcAft>
            </a:pPr>
            <a:r>
              <a:rPr sz="1400" b="1" i="0" dirty="0">
                <a:solidFill>
                  <a:srgbClr val="147D88"/>
                </a:solidFill>
                <a:latin typeface="Calibri"/>
              </a:rPr>
              <a:t>✔  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Demo / </a:t>
            </a:r>
            <a:r>
              <a:rPr sz="1350" b="1" i="0" dirty="0" err="1">
                <a:solidFill>
                  <a:srgbClr val="222B33"/>
                </a:solidFill>
                <a:latin typeface="Calibri"/>
              </a:rPr>
              <a:t>prototipo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:  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app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Streamlit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dockerizada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 (:8501) —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calculadora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 de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riesgo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 individual</a:t>
            </a:r>
          </a:p>
          <a:p>
            <a:pPr algn="l">
              <a:spcAft>
                <a:spcPts val="900"/>
              </a:spcAft>
            </a:pPr>
            <a:r>
              <a:rPr sz="1400" b="1" i="0" dirty="0">
                <a:solidFill>
                  <a:srgbClr val="147D88"/>
                </a:solidFill>
                <a:latin typeface="Calibri"/>
              </a:rPr>
              <a:t>✔  </a:t>
            </a:r>
            <a:r>
              <a:rPr sz="1350" b="1" i="0" dirty="0" err="1">
                <a:solidFill>
                  <a:srgbClr val="222B33"/>
                </a:solidFill>
                <a:latin typeface="Calibri"/>
              </a:rPr>
              <a:t>Recursos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 de </a:t>
            </a:r>
            <a:r>
              <a:rPr sz="1350" b="1" i="0" dirty="0" err="1">
                <a:solidFill>
                  <a:srgbClr val="222B33"/>
                </a:solidFill>
                <a:latin typeface="Calibri"/>
              </a:rPr>
              <a:t>resultados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:  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outputs/ —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modelo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,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métricas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, ranking,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mapa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,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figuras</a:t>
            </a:r>
            <a:endParaRPr sz="1350" b="0" i="0" dirty="0">
              <a:solidFill>
                <a:srgbClr val="5C6B7A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635240" y="1371600"/>
            <a:ext cx="4050791" cy="448056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169164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09F2C"/>
                </a:solidFill>
                <a:latin typeface="Calibri"/>
              </a:rPr>
              <a:t>Reproducible de punta a punta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331720"/>
            <a:ext cx="34290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Python 3.12 · scikit-learn · LightGBM · SHAP · Streamlit.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Un comando por etapa regenera datos, modelos y figuras.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Imagen Docker/Podman lista para desplegar la demo.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89204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CFDDE8"/>
                </a:solidFill>
                <a:latin typeface="Calibri"/>
              </a:rPr>
              <a:t>Enlaces completos = condiciones para validar recursos, bases, código y resultados.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09F2C"/>
                </a:solidFill>
                <a:latin typeface="Calibri"/>
              </a:rPr>
              <a:t>CIERRE · VALOR DIFERENCIAL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6070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Una sola inteligencia sobre datos abiertos:</a:t>
            </a:r>
          </a:p>
          <a:p>
            <a:pPr algn="l">
              <a:spcBef>
                <a:spcPts val="200"/>
              </a:spcBef>
            </a:pPr>
            <a:r>
              <a:rPr sz="3400" b="1" i="0">
                <a:solidFill>
                  <a:srgbClr val="E09F2C"/>
                </a:solidFill>
                <a:latin typeface="Calibri"/>
              </a:rPr>
              <a:t>del territorio al aula.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104241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Integra el módulo territorial (dónde) y el de riesgo (a quién) en una sola herramienta accionable.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5 conjuntos integrados con cruce del 100 % y validación estadística en ambos módulos.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Reproducible y desplegable: del notebook a la app en contenedor.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532120"/>
            <a:ext cx="10543032" cy="868680"/>
          </a:xfrm>
          <a:prstGeom prst="roundRect">
            <a:avLst>
              <a:gd name="adj" fmla="val 4500"/>
            </a:avLst>
          </a:prstGeom>
          <a:solidFill>
            <a:srgbClr val="165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5636361"/>
            <a:ext cx="82296" cy="660196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5532120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Problema real  +  datos abiertos  +  IA  +  impacto público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20202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1433</Words>
  <Application>Microsoft Office PowerPoint</Application>
  <PresentationFormat>Panorámica</PresentationFormat>
  <Paragraphs>199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Francisco Borrero</cp:lastModifiedBy>
  <cp:revision>2</cp:revision>
  <dcterms:created xsi:type="dcterms:W3CDTF">2013-01-27T09:14:16Z</dcterms:created>
  <dcterms:modified xsi:type="dcterms:W3CDTF">2026-07-21T19:44:38Z</dcterms:modified>
  <cp:category/>
</cp:coreProperties>
</file>